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41a1ada-0965-7ee4-a8d1-78830eb54ef5}">
          <p14:sldIdLst>
            <p14:sldId id="256"/>
            <p14:sldId id="257"/>
          </p14:sldIdLst>
        </p14:section>
        <p14:section name="Pourquoi tester" id="{ba641f32-16ef-96f2-e713-5607e37892cf}">
          <p14:sldIdLst>
            <p14:sldId id="258"/>
            <p14:sldId id="259"/>
            <p14:sldId id="260"/>
          </p14:sldIdLst>
        </p14:section>
        <p14:section name="pytest" id="{c92b4467-f09c-055d-87e2-d15290823deb}">
          <p14:sldIdLst>
            <p14:sldId id="261"/>
            <p14:sldId id="262"/>
            <p14:sldId id="263"/>
            <p14:sldId id="264"/>
            <p14:sldId id="265"/>
            <p14:sldId id="266"/>
            <p14:sldId id="267"/>
          </p14:sldIdLst>
        </p14:section>
        <p14:section name="TDD" id="{b21a0764-3184-2776-6d3d-902cd76bd72e}">
          <p14:sldIdLst>
            <p14:sldId id="268"/>
            <p14:sldId id="269"/>
            <p14:sldId id="270"/>
            <p14:sldId id="271"/>
            <p14:sldId id="272"/>
          </p14:sldIdLst>
        </p14:section>
        <p14:section name="Le TP" id="{d72b0feb-197b-639b-8934-7a07515e10dc}">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 Aujourd'hui, on construit un petit assistant, Mini-JARVIS, en écrivant les tests avant le code. Les trois pastilles rouge, vert, ambre représentent le cycle TDD, qu'on va retrouver toute la journée. Cette présentation dure environ 45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fil rouge de la journée : un test de bout en bout écrit dès le matin, qui reste rouge jusqu'à ce que toutes les briques soient construites. Insister sur le fait que c'est normal et même voulu.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Demander d'abord au groupe : qui a déjà cassé un code qui marchait en le modifiant ? Le premier argument, la sécurité pour modifier, est celui qui compte le plus pour le projet JARVIS, qui va beaucoup évoluer.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Plus on monte, plus le test est réaliste, mais plus il est lent, coûteux et fragile. On veut beaucoup de tests en bas et peu en haut. Dans Mini-JARVIS, l'E2E avec le vrai Groq est tout en haut : on n'en écrira qu'un, optionnel.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une démo en direct : écrire ce test, le lancer, montrer le message d'échec quand calculate n'existe pas encore. Montrer aussi ce qu'affiche pytest quand l'assert échoue sur une valeur.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tableaux d'exemples de l'énoncé se traduisent directement en parametrize. Montrer dans la sortie de pytest les identifiants générés, du type test_T1_operations[2-+-3-5.0].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tester 0.1 + 0.2 == 0.3 dans un interpréteur. Rappeler que le paramètre match est une expression régulière : les parenthèses ou les points doivent être échappés avec re.escape.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fixtures garantissent que chaque test part d'un état propre : aucun test ne doit dépendre d'un autre ni de l'ordre d'exécution. Montrer qu'une fixture peut elle-même utiliser une autre fixture, ici tmp_path.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clé : on ne peut remplacer une dépendance que si le code la reçoit en paramètre. C'est l'injection de dépendance. Ce sera indispensable pour le LLM dans la partie 2. Ne pas montrer le FakeLLM : les étudiants doivent le découvrir eux-mêmes.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marqueurs e2e et groq sont déjà déclarés dans le conftest.py fourni. La configuration par défaut exclut groq : on ne veut pas consommer de quota à chaque lancement.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cycle dure quelques minutes. Insister sur « échouer pour la bonne raison » : un test qui échoue à cause d'une faute de frappe ne prouve rien. Et sur le refactor : on ne l'oublie pas, c'est là que le code devient propre.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code de l'étape verte est volontairement naïf. C'est le test suivant, la soustraction, qui obligera à généraliser. Le refactor n'arrive qu'une fois les quatre opérations couvertes : on refactorise sous la protection des tests, jamais avant.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exactement le déroulé de la journée : le test E2E écrit à l'étape 0 constitue la boucle externe. Les parties 1 et 2 sont des tours de boucle interne. Le test d'acceptation passe au vert dans la partie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concret : au lieu de vérifier que JARVIS répond « C'est noté », on vérifie que le fichier de notes contient « acheter du lait ». Même avec temperature=0, la formulation d'un LLM peut changer d'une version de modèle à l'autre.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règle 2 est importante : la suite de tests de référence du formateur sera lancée sur le code de chaque groupe. Un message d'erreur reformulé, même mieux écrit, fera échouer ces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Laisser 30 minutes pour l'installation et les tests d'acceptation. Passer dans les groupes pour vérifier que les deux tests échouent pour la bonne raison : le module mini_jarvis.cli n'existe pas encore.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697480"/>
            <a:ext cx="8046720" cy="91440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80160"/>
            <a:ext cx="8046720" cy="13716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2788920"/>
            <a:ext cx="8046720" cy="73152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7A8A92"/>
                </a:solidFill>
              </a:rPr>
              <a:t>Mini-JARVIS · TP tests automatisés en TDD</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9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9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rtlCol="0" anchor="b"/>
          <a:lstStyle/>
          <a:p>
            <a:pPr algn="l" indent="0" marL="0">
              <a:buNone/>
            </a:pPr>
            <a:r>
              <a:rPr lang="en-US" sz="4000" b="1" dirty="0">
                <a:solidFill>
                  <a:schemeClr val="bg1"/>
                </a:solidFill>
              </a:rPr>
              <a:t>Tester Mini-JARVIS en TDD</a:t>
            </a:r>
            <a:endParaRPr lang="en-US" sz="4000" dirty="0"/>
          </a:p>
        </p:txBody>
      </p:sp>
      <p:sp>
        <p:nvSpPr>
          <p:cNvPr id="3" name="Text 0"/>
          <p:cNvSpPr/>
          <p:nvPr>
            <p:ph idx="101" type="body" hasCustomPrompt="1"/>
          </p:nvPr>
        </p:nvSpPr>
        <p:spPr>
          <a:xfrm>
            <a:off x="548640" y="2697480"/>
            <a:ext cx="8046720" cy="914400"/>
          </a:xfrm>
          <a:prstGeom prst="rect">
            <a:avLst/>
          </a:prstGeom>
          <a:noFill/>
          <a:ln/>
        </p:spPr>
        <p:txBody>
          <a:bodyPr wrap="square" rtlCol="0" anchor="t"/>
          <a:lstStyle/>
          <a:p>
            <a:pPr algn="l" indent="0" marL="0">
              <a:buNone/>
            </a:pPr>
            <a:r>
              <a:rPr lang="en-US" sz="1800" dirty="0">
                <a:solidFill>
                  <a:schemeClr val="accent6"/>
                </a:solidFill>
              </a:rPr>
              <a:t>Introduction à pytest et au développement piloté par les tests</a:t>
            </a:r>
            <a:endParaRPr lang="en-US" sz="1800" dirty="0"/>
          </a:p>
        </p:txBody>
      </p:sp>
      <p:sp>
        <p:nvSpPr>
          <p:cNvPr id="4" name="pastille-accent2"/>
          <p:cNvSpPr/>
          <p:nvPr/>
        </p:nvSpPr>
        <p:spPr>
          <a:xfrm>
            <a:off x="548640" y="685800"/>
            <a:ext cx="274320" cy="274320"/>
          </a:xfrm>
          <a:prstGeom prst="ellipse">
            <a:avLst/>
          </a:prstGeom>
          <a:solidFill>
            <a:schemeClr val="accent2"/>
          </a:solidFill>
          <a:ln w="12700">
            <a:solidFill>
              <a:schemeClr val="accent2"/>
            </a:solidFill>
            <a:prstDash val="solid"/>
          </a:ln>
        </p:spPr>
      </p:sp>
      <p:sp>
        <p:nvSpPr>
          <p:cNvPr id="5" name="pastille-accent1"/>
          <p:cNvSpPr/>
          <p:nvPr/>
        </p:nvSpPr>
        <p:spPr>
          <a:xfrm>
            <a:off x="960120" y="685800"/>
            <a:ext cx="274320" cy="274320"/>
          </a:xfrm>
          <a:prstGeom prst="ellipse">
            <a:avLst/>
          </a:prstGeom>
          <a:solidFill>
            <a:schemeClr val="accent1"/>
          </a:solidFill>
          <a:ln w="12700">
            <a:solidFill>
              <a:schemeClr val="accent1"/>
            </a:solidFill>
            <a:prstDash val="solid"/>
          </a:ln>
        </p:spPr>
      </p:sp>
      <p:sp>
        <p:nvSpPr>
          <p:cNvPr id="6" name="pastille-accent3"/>
          <p:cNvSpPr/>
          <p:nvPr/>
        </p:nvSpPr>
        <p:spPr>
          <a:xfrm>
            <a:off x="1371600" y="685800"/>
            <a:ext cx="274320" cy="274320"/>
          </a:xfrm>
          <a:prstGeom prst="ellipse">
            <a:avLst/>
          </a:prstGeom>
          <a:solidFill>
            <a:schemeClr val="accent3"/>
          </a:solidFill>
          <a:ln w="12700">
            <a:solidFill>
              <a:schemeClr val="accent3"/>
            </a:solidFill>
            <a:prstDash val="solid"/>
          </a:ln>
        </p:spPr>
      </p:sp>
      <p:sp>
        <p:nvSpPr>
          <p:cNvPr id="7" name="Text 5"/>
          <p:cNvSpPr txBox="1"/>
          <p:nvPr/>
        </p:nvSpPr>
        <p:spPr>
          <a:xfrm>
            <a:off x="548640" y="4206240"/>
            <a:ext cx="4572000" cy="365760"/>
          </a:xfrm>
          <a:prstGeom prst="rect">
            <a:avLst/>
          </a:prstGeom>
          <a:noFill/>
          <a:ln/>
        </p:spPr>
        <p:txBody>
          <a:bodyPr wrap="square" lIns="0" tIns="0" rIns="0" bIns="0" rtlCol="0" anchor="ctr"/>
          <a:lstStyle/>
          <a:p>
            <a:pPr indent="0" marL="0">
              <a:buNone/>
            </a:pPr>
            <a:r>
              <a:rPr lang="en-US" sz="1400" dirty="0">
                <a:solidFill>
                  <a:schemeClr val="bg1"/>
                </a:solidFill>
              </a:rPr>
              <a:t>TP · une journée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Le programme de la journée</a:t>
            </a:r>
            <a:endParaRPr lang="en-US" sz="3000" dirty="0"/>
          </a:p>
        </p:txBody>
      </p:sp>
      <p:sp>
        <p:nvSpPr>
          <p:cNvPr id="3" name="etape-0"/>
          <p:cNvSpPr/>
          <p:nvPr/>
        </p:nvSpPr>
        <p:spPr>
          <a:xfrm>
            <a:off x="457200" y="1463040"/>
            <a:ext cx="1261872" cy="2377440"/>
          </a:xfrm>
          <a:prstGeom prst="roundRect">
            <a:avLst>
              <a:gd name="adj" fmla="val 7246"/>
            </a:avLst>
          </a:prstGeom>
          <a:solidFill>
            <a:schemeClr val="accent4"/>
          </a:solidFill>
          <a:ln w="12700">
            <a:solidFill>
              <a:schemeClr val="accent4"/>
            </a:solidFill>
            <a:prstDash val="solid"/>
          </a:ln>
        </p:spPr>
      </p:sp>
      <p:sp>
        <p:nvSpPr>
          <p:cNvPr id="4" name="Text 2"/>
          <p:cNvSpPr txBox="1"/>
          <p:nvPr/>
        </p:nvSpPr>
        <p:spPr>
          <a:xfrm>
            <a:off x="566928" y="1600200"/>
            <a:ext cx="1042416" cy="457200"/>
          </a:xfrm>
          <a:prstGeom prst="rect">
            <a:avLst/>
          </a:prstGeom>
          <a:noFill/>
          <a:ln/>
        </p:spPr>
        <p:txBody>
          <a:bodyPr wrap="square" lIns="0" tIns="0" rIns="0" bIns="0" rtlCol="0" anchor="ctr"/>
          <a:lstStyle/>
          <a:p>
            <a:pPr indent="0" marL="0">
              <a:buNone/>
            </a:pPr>
            <a:r>
              <a:rPr lang="en-US" sz="2200" b="1" dirty="0">
                <a:solidFill>
                  <a:schemeClr val="bg1"/>
                </a:solidFill>
              </a:rPr>
              <a:t>9h00</a:t>
            </a:r>
            <a:endParaRPr lang="en-US" sz="2200" dirty="0"/>
          </a:p>
        </p:txBody>
      </p:sp>
      <p:sp>
        <p:nvSpPr>
          <p:cNvPr id="5" name="Text 3"/>
          <p:cNvSpPr txBox="1"/>
          <p:nvPr/>
        </p:nvSpPr>
        <p:spPr>
          <a:xfrm>
            <a:off x="566928" y="2194560"/>
            <a:ext cx="1042416" cy="365760"/>
          </a:xfrm>
          <a:prstGeom prst="rect">
            <a:avLst/>
          </a:prstGeom>
          <a:noFill/>
          <a:ln/>
        </p:spPr>
        <p:txBody>
          <a:bodyPr wrap="square" lIns="0" tIns="0" rIns="0" bIns="0" rtlCol="0" anchor="ctr"/>
          <a:lstStyle/>
          <a:p>
            <a:pPr indent="0" marL="0">
              <a:buNone/>
            </a:pPr>
            <a:r>
              <a:rPr lang="en-US" sz="1500" b="1" dirty="0">
                <a:solidFill>
                  <a:schemeClr val="bg1"/>
                </a:solidFill>
              </a:rPr>
              <a:t>Présentation</a:t>
            </a:r>
            <a:endParaRPr lang="en-US" sz="1500" dirty="0"/>
          </a:p>
        </p:txBody>
      </p:sp>
      <p:sp>
        <p:nvSpPr>
          <p:cNvPr id="6" name="Text 4"/>
          <p:cNvSpPr txBox="1"/>
          <p:nvPr/>
        </p:nvSpPr>
        <p:spPr>
          <a:xfrm>
            <a:off x="566928" y="2606040"/>
            <a:ext cx="1042416" cy="1097280"/>
          </a:xfrm>
          <a:prstGeom prst="rect">
            <a:avLst/>
          </a:prstGeom>
          <a:noFill/>
          <a:ln/>
        </p:spPr>
        <p:txBody>
          <a:bodyPr wrap="square" lIns="0" tIns="0" rIns="0" bIns="0" rtlCol="0" anchor="t"/>
          <a:lstStyle/>
          <a:p>
            <a:pPr indent="0" marL="0">
              <a:buNone/>
            </a:pPr>
            <a:r>
              <a:rPr lang="en-US" sz="1300" dirty="0">
                <a:solidFill>
                  <a:schemeClr val="bg1"/>
                </a:solidFill>
              </a:rPr>
              <a:t>pytest et TDD</a:t>
            </a:r>
            <a:endParaRPr lang="en-US" sz="1300" dirty="0"/>
          </a:p>
        </p:txBody>
      </p:sp>
      <p:sp>
        <p:nvSpPr>
          <p:cNvPr id="7" name="etape-1"/>
          <p:cNvSpPr/>
          <p:nvPr/>
        </p:nvSpPr>
        <p:spPr>
          <a:xfrm>
            <a:off x="1847088" y="1463040"/>
            <a:ext cx="1261872" cy="2377440"/>
          </a:xfrm>
          <a:prstGeom prst="roundRect">
            <a:avLst>
              <a:gd name="adj" fmla="val 7246"/>
            </a:avLst>
          </a:prstGeom>
          <a:solidFill>
            <a:schemeClr val="bg2"/>
          </a:solidFill>
          <a:ln w="12700">
            <a:solidFill>
              <a:schemeClr val="bg2"/>
            </a:solidFill>
            <a:prstDash val="solid"/>
          </a:ln>
        </p:spPr>
      </p:sp>
      <p:sp>
        <p:nvSpPr>
          <p:cNvPr id="8" name="Text 6"/>
          <p:cNvSpPr txBox="1"/>
          <p:nvPr/>
        </p:nvSpPr>
        <p:spPr>
          <a:xfrm>
            <a:off x="1956816" y="1600200"/>
            <a:ext cx="1042416" cy="457200"/>
          </a:xfrm>
          <a:prstGeom prst="rect">
            <a:avLst/>
          </a:prstGeom>
          <a:noFill/>
          <a:ln/>
        </p:spPr>
        <p:txBody>
          <a:bodyPr wrap="square" lIns="0" tIns="0" rIns="0" bIns="0" rtlCol="0" anchor="ctr"/>
          <a:lstStyle/>
          <a:p>
            <a:pPr indent="0" marL="0">
              <a:buNone/>
            </a:pPr>
            <a:r>
              <a:rPr lang="en-US" sz="2200" b="1" dirty="0">
                <a:solidFill>
                  <a:schemeClr val="accent4"/>
                </a:solidFill>
              </a:rPr>
              <a:t>9h45</a:t>
            </a:r>
            <a:endParaRPr lang="en-US" sz="2200" dirty="0"/>
          </a:p>
        </p:txBody>
      </p:sp>
      <p:sp>
        <p:nvSpPr>
          <p:cNvPr id="9" name="Text 7"/>
          <p:cNvSpPr txBox="1"/>
          <p:nvPr/>
        </p:nvSpPr>
        <p:spPr>
          <a:xfrm>
            <a:off x="1956816" y="2194560"/>
            <a:ext cx="1042416" cy="365760"/>
          </a:xfrm>
          <a:prstGeom prst="rect">
            <a:avLst/>
          </a:prstGeom>
          <a:noFill/>
          <a:ln/>
        </p:spPr>
        <p:txBody>
          <a:bodyPr wrap="square" lIns="0" tIns="0" rIns="0" bIns="0" rtlCol="0" anchor="ctr"/>
          <a:lstStyle/>
          <a:p>
            <a:pPr indent="0" marL="0">
              <a:buNone/>
            </a:pPr>
            <a:r>
              <a:rPr lang="en-US" sz="1500" b="1" dirty="0">
                <a:solidFill>
                  <a:schemeClr val="tx1"/>
                </a:solidFill>
              </a:rPr>
              <a:t>Étape 0</a:t>
            </a:r>
            <a:endParaRPr lang="en-US" sz="1500" dirty="0"/>
          </a:p>
        </p:txBody>
      </p:sp>
      <p:sp>
        <p:nvSpPr>
          <p:cNvPr id="10" name="Text 8"/>
          <p:cNvSpPr txBox="1"/>
          <p:nvPr/>
        </p:nvSpPr>
        <p:spPr>
          <a:xfrm>
            <a:off x="1956816" y="2606040"/>
            <a:ext cx="1042416" cy="1097280"/>
          </a:xfrm>
          <a:prstGeom prst="rect">
            <a:avLst/>
          </a:prstGeom>
          <a:noFill/>
          <a:ln/>
        </p:spPr>
        <p:txBody>
          <a:bodyPr wrap="square" lIns="0" tIns="0" rIns="0" bIns="0" rtlCol="0" anchor="t"/>
          <a:lstStyle/>
          <a:p>
            <a:pPr indent="0" marL="0">
              <a:buNone/>
            </a:pPr>
            <a:r>
              <a:rPr lang="en-US" sz="1300" dirty="0">
                <a:solidFill>
                  <a:schemeClr val="tx1"/>
                </a:solidFill>
              </a:rPr>
              <a:t>Test d'acceptation E2E</a:t>
            </a:r>
            <a:endParaRPr lang="en-US" sz="1300" dirty="0"/>
          </a:p>
        </p:txBody>
      </p:sp>
      <p:sp>
        <p:nvSpPr>
          <p:cNvPr id="11" name="etape-2"/>
          <p:cNvSpPr/>
          <p:nvPr/>
        </p:nvSpPr>
        <p:spPr>
          <a:xfrm>
            <a:off x="3236976" y="1463040"/>
            <a:ext cx="1261872" cy="2377440"/>
          </a:xfrm>
          <a:prstGeom prst="roundRect">
            <a:avLst>
              <a:gd name="adj" fmla="val 7246"/>
            </a:avLst>
          </a:prstGeom>
          <a:solidFill>
            <a:schemeClr val="bg2"/>
          </a:solidFill>
          <a:ln w="12700">
            <a:solidFill>
              <a:schemeClr val="bg2"/>
            </a:solidFill>
            <a:prstDash val="solid"/>
          </a:ln>
        </p:spPr>
      </p:sp>
      <p:sp>
        <p:nvSpPr>
          <p:cNvPr id="12" name="Text 10"/>
          <p:cNvSpPr txBox="1"/>
          <p:nvPr/>
        </p:nvSpPr>
        <p:spPr>
          <a:xfrm>
            <a:off x="3346704" y="1600200"/>
            <a:ext cx="1042416" cy="457200"/>
          </a:xfrm>
          <a:prstGeom prst="rect">
            <a:avLst/>
          </a:prstGeom>
          <a:noFill/>
          <a:ln/>
        </p:spPr>
        <p:txBody>
          <a:bodyPr wrap="square" lIns="0" tIns="0" rIns="0" bIns="0" rtlCol="0" anchor="ctr"/>
          <a:lstStyle/>
          <a:p>
            <a:pPr indent="0" marL="0">
              <a:buNone/>
            </a:pPr>
            <a:r>
              <a:rPr lang="en-US" sz="2200" b="1" dirty="0">
                <a:solidFill>
                  <a:schemeClr val="accent4"/>
                </a:solidFill>
              </a:rPr>
              <a:t>10h15</a:t>
            </a:r>
            <a:endParaRPr lang="en-US" sz="2200" dirty="0"/>
          </a:p>
        </p:txBody>
      </p:sp>
      <p:sp>
        <p:nvSpPr>
          <p:cNvPr id="13" name="Text 11"/>
          <p:cNvSpPr txBox="1"/>
          <p:nvPr/>
        </p:nvSpPr>
        <p:spPr>
          <a:xfrm>
            <a:off x="3346704" y="2194560"/>
            <a:ext cx="1042416" cy="365760"/>
          </a:xfrm>
          <a:prstGeom prst="rect">
            <a:avLst/>
          </a:prstGeom>
          <a:noFill/>
          <a:ln/>
        </p:spPr>
        <p:txBody>
          <a:bodyPr wrap="square" lIns="0" tIns="0" rIns="0" bIns="0" rtlCol="0" anchor="ctr"/>
          <a:lstStyle/>
          <a:p>
            <a:pPr indent="0" marL="0">
              <a:buNone/>
            </a:pPr>
            <a:r>
              <a:rPr lang="en-US" sz="1500" b="1" dirty="0">
                <a:solidFill>
                  <a:schemeClr val="tx1"/>
                </a:solidFill>
              </a:rPr>
              <a:t>Partie 1</a:t>
            </a:r>
            <a:endParaRPr lang="en-US" sz="1500" dirty="0"/>
          </a:p>
        </p:txBody>
      </p:sp>
      <p:sp>
        <p:nvSpPr>
          <p:cNvPr id="14" name="Text 12"/>
          <p:cNvSpPr txBox="1"/>
          <p:nvPr/>
        </p:nvSpPr>
        <p:spPr>
          <a:xfrm>
            <a:off x="3346704" y="2606040"/>
            <a:ext cx="1042416" cy="1097280"/>
          </a:xfrm>
          <a:prstGeom prst="rect">
            <a:avLst/>
          </a:prstGeom>
          <a:noFill/>
          <a:ln/>
        </p:spPr>
        <p:txBody>
          <a:bodyPr wrap="square" lIns="0" tIns="0" rIns="0" bIns="0" rtlCol="0" anchor="t"/>
          <a:lstStyle/>
          <a:p>
            <a:pPr indent="0" marL="0">
              <a:buNone/>
            </a:pPr>
            <a:r>
              <a:rPr lang="en-US" sz="1300" dirty="0">
                <a:solidFill>
                  <a:schemeClr val="tx1"/>
                </a:solidFill>
              </a:rPr>
              <a:t>Briques pures, tests unitaires</a:t>
            </a:r>
            <a:endParaRPr lang="en-US" sz="1300" dirty="0"/>
          </a:p>
        </p:txBody>
      </p:sp>
      <p:sp>
        <p:nvSpPr>
          <p:cNvPr id="15" name="etape-3"/>
          <p:cNvSpPr/>
          <p:nvPr/>
        </p:nvSpPr>
        <p:spPr>
          <a:xfrm>
            <a:off x="4626864" y="1463040"/>
            <a:ext cx="1261872" cy="2377440"/>
          </a:xfrm>
          <a:prstGeom prst="roundRect">
            <a:avLst>
              <a:gd name="adj" fmla="val 7246"/>
            </a:avLst>
          </a:prstGeom>
          <a:solidFill>
            <a:schemeClr val="bg2"/>
          </a:solidFill>
          <a:ln w="12700">
            <a:solidFill>
              <a:schemeClr val="bg2"/>
            </a:solidFill>
            <a:prstDash val="solid"/>
          </a:ln>
        </p:spPr>
      </p:sp>
      <p:sp>
        <p:nvSpPr>
          <p:cNvPr id="16" name="Text 14"/>
          <p:cNvSpPr txBox="1"/>
          <p:nvPr/>
        </p:nvSpPr>
        <p:spPr>
          <a:xfrm>
            <a:off x="4736592" y="1600200"/>
            <a:ext cx="1042416" cy="457200"/>
          </a:xfrm>
          <a:prstGeom prst="rect">
            <a:avLst/>
          </a:prstGeom>
          <a:noFill/>
          <a:ln/>
        </p:spPr>
        <p:txBody>
          <a:bodyPr wrap="square" lIns="0" tIns="0" rIns="0" bIns="0" rtlCol="0" anchor="ctr"/>
          <a:lstStyle/>
          <a:p>
            <a:pPr indent="0" marL="0">
              <a:buNone/>
            </a:pPr>
            <a:r>
              <a:rPr lang="en-US" sz="2200" b="1" dirty="0">
                <a:solidFill>
                  <a:schemeClr val="accent4"/>
                </a:solidFill>
              </a:rPr>
              <a:t>13h30</a:t>
            </a:r>
            <a:endParaRPr lang="en-US" sz="2200" dirty="0"/>
          </a:p>
        </p:txBody>
      </p:sp>
      <p:sp>
        <p:nvSpPr>
          <p:cNvPr id="17" name="Text 15"/>
          <p:cNvSpPr txBox="1"/>
          <p:nvPr/>
        </p:nvSpPr>
        <p:spPr>
          <a:xfrm>
            <a:off x="4736592" y="2194560"/>
            <a:ext cx="1042416" cy="365760"/>
          </a:xfrm>
          <a:prstGeom prst="rect">
            <a:avLst/>
          </a:prstGeom>
          <a:noFill/>
          <a:ln/>
        </p:spPr>
        <p:txBody>
          <a:bodyPr wrap="square" lIns="0" tIns="0" rIns="0" bIns="0" rtlCol="0" anchor="ctr"/>
          <a:lstStyle/>
          <a:p>
            <a:pPr indent="0" marL="0">
              <a:buNone/>
            </a:pPr>
            <a:r>
              <a:rPr lang="en-US" sz="1500" b="1" dirty="0">
                <a:solidFill>
                  <a:schemeClr val="tx1"/>
                </a:solidFill>
              </a:rPr>
              <a:t>Partie 2</a:t>
            </a:r>
            <a:endParaRPr lang="en-US" sz="1500" dirty="0"/>
          </a:p>
        </p:txBody>
      </p:sp>
      <p:sp>
        <p:nvSpPr>
          <p:cNvPr id="18" name="Text 16"/>
          <p:cNvSpPr txBox="1"/>
          <p:nvPr/>
        </p:nvSpPr>
        <p:spPr>
          <a:xfrm>
            <a:off x="4736592" y="2606040"/>
            <a:ext cx="1042416" cy="1097280"/>
          </a:xfrm>
          <a:prstGeom prst="rect">
            <a:avLst/>
          </a:prstGeom>
          <a:noFill/>
          <a:ln/>
        </p:spPr>
        <p:txBody>
          <a:bodyPr wrap="square" lIns="0" tIns="0" rIns="0" bIns="0" rtlCol="0" anchor="t"/>
          <a:lstStyle/>
          <a:p>
            <a:pPr indent="0" marL="0">
              <a:buNone/>
            </a:pPr>
            <a:r>
              <a:rPr lang="en-US" sz="1300" dirty="0">
                <a:solidFill>
                  <a:schemeClr val="tx1"/>
                </a:solidFill>
              </a:rPr>
              <a:t>MCP et agent, tests fonctionnels</a:t>
            </a:r>
            <a:endParaRPr lang="en-US" sz="1300" dirty="0"/>
          </a:p>
        </p:txBody>
      </p:sp>
      <p:sp>
        <p:nvSpPr>
          <p:cNvPr id="19" name="etape-4"/>
          <p:cNvSpPr/>
          <p:nvPr/>
        </p:nvSpPr>
        <p:spPr>
          <a:xfrm>
            <a:off x="6016752" y="1463040"/>
            <a:ext cx="1261872" cy="2377440"/>
          </a:xfrm>
          <a:prstGeom prst="roundRect">
            <a:avLst>
              <a:gd name="adj" fmla="val 7246"/>
            </a:avLst>
          </a:prstGeom>
          <a:solidFill>
            <a:schemeClr val="bg2"/>
          </a:solidFill>
          <a:ln w="12700">
            <a:solidFill>
              <a:schemeClr val="bg2"/>
            </a:solidFill>
            <a:prstDash val="solid"/>
          </a:ln>
        </p:spPr>
      </p:sp>
      <p:sp>
        <p:nvSpPr>
          <p:cNvPr id="20" name="Text 18"/>
          <p:cNvSpPr txBox="1"/>
          <p:nvPr/>
        </p:nvSpPr>
        <p:spPr>
          <a:xfrm>
            <a:off x="6126480" y="1600200"/>
            <a:ext cx="1042416" cy="457200"/>
          </a:xfrm>
          <a:prstGeom prst="rect">
            <a:avLst/>
          </a:prstGeom>
          <a:noFill/>
          <a:ln/>
        </p:spPr>
        <p:txBody>
          <a:bodyPr wrap="square" lIns="0" tIns="0" rIns="0" bIns="0" rtlCol="0" anchor="ctr"/>
          <a:lstStyle/>
          <a:p>
            <a:pPr indent="0" marL="0">
              <a:buNone/>
            </a:pPr>
            <a:r>
              <a:rPr lang="en-US" sz="2200" b="1" dirty="0">
                <a:solidFill>
                  <a:schemeClr val="accent4"/>
                </a:solidFill>
              </a:rPr>
              <a:t>15h30</a:t>
            </a:r>
            <a:endParaRPr lang="en-US" sz="2200" dirty="0"/>
          </a:p>
        </p:txBody>
      </p:sp>
      <p:sp>
        <p:nvSpPr>
          <p:cNvPr id="21" name="Text 19"/>
          <p:cNvSpPr txBox="1"/>
          <p:nvPr/>
        </p:nvSpPr>
        <p:spPr>
          <a:xfrm>
            <a:off x="6126480" y="2194560"/>
            <a:ext cx="1042416" cy="365760"/>
          </a:xfrm>
          <a:prstGeom prst="rect">
            <a:avLst/>
          </a:prstGeom>
          <a:noFill/>
          <a:ln/>
        </p:spPr>
        <p:txBody>
          <a:bodyPr wrap="square" lIns="0" tIns="0" rIns="0" bIns="0" rtlCol="0" anchor="ctr"/>
          <a:lstStyle/>
          <a:p>
            <a:pPr indent="0" marL="0">
              <a:buNone/>
            </a:pPr>
            <a:r>
              <a:rPr lang="en-US" sz="1500" b="1" dirty="0">
                <a:solidFill>
                  <a:schemeClr val="tx1"/>
                </a:solidFill>
              </a:rPr>
              <a:t>Partie 3</a:t>
            </a:r>
            <a:endParaRPr lang="en-US" sz="1500" dirty="0"/>
          </a:p>
        </p:txBody>
      </p:sp>
      <p:sp>
        <p:nvSpPr>
          <p:cNvPr id="22" name="Text 20"/>
          <p:cNvSpPr txBox="1"/>
          <p:nvPr/>
        </p:nvSpPr>
        <p:spPr>
          <a:xfrm>
            <a:off x="6126480" y="2606040"/>
            <a:ext cx="1042416" cy="1097280"/>
          </a:xfrm>
          <a:prstGeom prst="rect">
            <a:avLst/>
          </a:prstGeom>
          <a:noFill/>
          <a:ln/>
        </p:spPr>
        <p:txBody>
          <a:bodyPr wrap="square" lIns="0" tIns="0" rIns="0" bIns="0" rtlCol="0" anchor="t"/>
          <a:lstStyle/>
          <a:p>
            <a:pPr indent="0" marL="0">
              <a:buNone/>
            </a:pPr>
            <a:r>
              <a:rPr lang="en-US" sz="1300" dirty="0">
                <a:solidFill>
                  <a:schemeClr val="tx1"/>
                </a:solidFill>
              </a:rPr>
              <a:t>Groq, CLI, acceptation au vert</a:t>
            </a:r>
            <a:endParaRPr lang="en-US" sz="1300" dirty="0"/>
          </a:p>
        </p:txBody>
      </p:sp>
      <p:sp>
        <p:nvSpPr>
          <p:cNvPr id="23" name="etape-5"/>
          <p:cNvSpPr/>
          <p:nvPr/>
        </p:nvSpPr>
        <p:spPr>
          <a:xfrm>
            <a:off x="7406640" y="1463040"/>
            <a:ext cx="1261872" cy="2377440"/>
          </a:xfrm>
          <a:prstGeom prst="roundRect">
            <a:avLst>
              <a:gd name="adj" fmla="val 7246"/>
            </a:avLst>
          </a:prstGeom>
          <a:solidFill>
            <a:schemeClr val="bg2"/>
          </a:solidFill>
          <a:ln w="12700">
            <a:solidFill>
              <a:schemeClr val="bg2"/>
            </a:solidFill>
            <a:prstDash val="solid"/>
          </a:ln>
        </p:spPr>
      </p:sp>
      <p:sp>
        <p:nvSpPr>
          <p:cNvPr id="24" name="Text 22"/>
          <p:cNvSpPr txBox="1"/>
          <p:nvPr/>
        </p:nvSpPr>
        <p:spPr>
          <a:xfrm>
            <a:off x="7516368" y="1600200"/>
            <a:ext cx="1042416" cy="457200"/>
          </a:xfrm>
          <a:prstGeom prst="rect">
            <a:avLst/>
          </a:prstGeom>
          <a:noFill/>
          <a:ln/>
        </p:spPr>
        <p:txBody>
          <a:bodyPr wrap="square" lIns="0" tIns="0" rIns="0" bIns="0" rtlCol="0" anchor="ctr"/>
          <a:lstStyle/>
          <a:p>
            <a:pPr indent="0" marL="0">
              <a:buNone/>
            </a:pPr>
            <a:r>
              <a:rPr lang="en-US" sz="2200" b="1" dirty="0">
                <a:solidFill>
                  <a:schemeClr val="accent4"/>
                </a:solidFill>
              </a:rPr>
              <a:t>16h45</a:t>
            </a:r>
            <a:endParaRPr lang="en-US" sz="2200" dirty="0"/>
          </a:p>
        </p:txBody>
      </p:sp>
      <p:sp>
        <p:nvSpPr>
          <p:cNvPr id="25" name="Text 23"/>
          <p:cNvSpPr txBox="1"/>
          <p:nvPr/>
        </p:nvSpPr>
        <p:spPr>
          <a:xfrm>
            <a:off x="7516368" y="2194560"/>
            <a:ext cx="1042416" cy="365760"/>
          </a:xfrm>
          <a:prstGeom prst="rect">
            <a:avLst/>
          </a:prstGeom>
          <a:noFill/>
          <a:ln/>
        </p:spPr>
        <p:txBody>
          <a:bodyPr wrap="square" lIns="0" tIns="0" rIns="0" bIns="0" rtlCol="0" anchor="ctr"/>
          <a:lstStyle/>
          <a:p>
            <a:pPr indent="0" marL="0">
              <a:buNone/>
            </a:pPr>
            <a:r>
              <a:rPr lang="en-US" sz="1500" b="1" dirty="0">
                <a:solidFill>
                  <a:schemeClr val="tx1"/>
                </a:solidFill>
              </a:rPr>
              <a:t>Bonus</a:t>
            </a:r>
            <a:endParaRPr lang="en-US" sz="1500" dirty="0"/>
          </a:p>
        </p:txBody>
      </p:sp>
      <p:sp>
        <p:nvSpPr>
          <p:cNvPr id="26" name="Text 24"/>
          <p:cNvSpPr txBox="1"/>
          <p:nvPr/>
        </p:nvSpPr>
        <p:spPr>
          <a:xfrm>
            <a:off x="7516368" y="2606040"/>
            <a:ext cx="1042416" cy="1097280"/>
          </a:xfrm>
          <a:prstGeom prst="rect">
            <a:avLst/>
          </a:prstGeom>
          <a:noFill/>
          <a:ln/>
        </p:spPr>
        <p:txBody>
          <a:bodyPr wrap="square" lIns="0" tIns="0" rIns="0" bIns="0" rtlCol="0" anchor="t"/>
          <a:lstStyle/>
          <a:p>
            <a:pPr indent="0" marL="0">
              <a:buNone/>
            </a:pPr>
            <a:r>
              <a:rPr lang="en-US" sz="1300" dirty="0">
                <a:solidFill>
                  <a:schemeClr val="tx1"/>
                </a:solidFill>
              </a:rPr>
              <a:t>Changement d'exigence, CI</a:t>
            </a:r>
            <a:endParaRPr lang="en-US" sz="1300" dirty="0"/>
          </a:p>
        </p:txBody>
      </p:sp>
      <p:sp>
        <p:nvSpPr>
          <p:cNvPr id="27" name="Text 25"/>
          <p:cNvSpPr txBox="1"/>
          <p:nvPr/>
        </p:nvSpPr>
        <p:spPr>
          <a:xfrm>
            <a:off x="457200" y="4069080"/>
            <a:ext cx="8229600" cy="365760"/>
          </a:xfrm>
          <a:prstGeom prst="rect">
            <a:avLst/>
          </a:prstGeom>
          <a:noFill/>
          <a:ln/>
        </p:spPr>
        <p:txBody>
          <a:bodyPr wrap="square" lIns="0" tIns="0" rIns="0" bIns="0" rtlCol="0" anchor="ctr"/>
          <a:lstStyle/>
          <a:p>
            <a:pPr indent="0" marL="0">
              <a:buNone/>
            </a:pPr>
            <a:r>
              <a:rPr lang="en-US" sz="1500" i="1" dirty="0">
                <a:solidFill>
                  <a:schemeClr val="tx2"/>
                </a:solidFill>
              </a:rPr>
              <a:t>Les tests d'acceptation écrits à 9h45 doivent être verts à 16h45.</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9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1280160"/>
            <a:ext cx="8046720" cy="1371600"/>
          </a:xfrm>
          <a:prstGeom prst="rect">
            <a:avLst/>
          </a:prstGeom>
          <a:noFill/>
          <a:ln/>
        </p:spPr>
        <p:txBody>
          <a:bodyPr wrap="square" rtlCol="0" anchor="b"/>
          <a:lstStyle/>
          <a:p>
            <a:pPr algn="l" indent="0" marL="0">
              <a:buNone/>
            </a:pPr>
            <a:r>
              <a:rPr lang="en-US" sz="3600" b="1" dirty="0">
                <a:solidFill>
                  <a:schemeClr val="bg1"/>
                </a:solidFill>
              </a:rPr>
              <a:t>Pourquoi des tests automatisés ?</a:t>
            </a:r>
            <a:endParaRPr lang="en-US" sz="3600" dirty="0"/>
          </a:p>
        </p:txBody>
      </p:sp>
      <p:sp>
        <p:nvSpPr>
          <p:cNvPr id="3" name="Text 0"/>
          <p:cNvSpPr/>
          <p:nvPr>
            <p:ph idx="101" type="body" hasCustomPrompt="1"/>
          </p:nvPr>
        </p:nvSpPr>
        <p:spPr>
          <a:xfrm>
            <a:off x="548640" y="2788920"/>
            <a:ext cx="8046720" cy="731520"/>
          </a:xfrm>
          <a:prstGeom prst="rect">
            <a:avLst/>
          </a:prstGeom>
          <a:noFill/>
          <a:ln/>
        </p:spPr>
        <p:txBody>
          <a:bodyPr wrap="square" rtlCol="0" anchor="t"/>
          <a:lstStyle/>
          <a:p>
            <a:pPr algn="l" indent="0" marL="0">
              <a:buNone/>
            </a:pPr>
            <a:r>
              <a:rPr lang="en-US" sz="1800" dirty="0">
                <a:solidFill>
                  <a:schemeClr val="accent6"/>
                </a:solidFill>
              </a:rPr>
              <a:t>Et lesquels écrire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Trois raisons d'automatiser ses tests</a:t>
            </a:r>
            <a:endParaRPr lang="en-US" sz="3000" dirty="0"/>
          </a:p>
        </p:txBody>
      </p:sp>
      <p:sp>
        <p:nvSpPr>
          <p:cNvPr id="3" name="raison-0"/>
          <p:cNvSpPr/>
          <p:nvPr/>
        </p:nvSpPr>
        <p:spPr>
          <a:xfrm>
            <a:off x="457200" y="1280160"/>
            <a:ext cx="2596896" cy="3108960"/>
          </a:xfrm>
          <a:prstGeom prst="roundRect">
            <a:avLst>
              <a:gd name="adj" fmla="val 3521"/>
            </a:avLst>
          </a:prstGeom>
          <a:solidFill>
            <a:schemeClr val="bg2"/>
          </a:solidFill>
          <a:ln w="12700">
            <a:solidFill>
              <a:schemeClr val="bg2"/>
            </a:solidFill>
            <a:prstDash val="solid"/>
          </a:ln>
        </p:spPr>
      </p:sp>
      <p:sp>
        <p:nvSpPr>
          <p:cNvPr id="4" name="Shape 2"/>
          <p:cNvSpPr/>
          <p:nvPr/>
        </p:nvSpPr>
        <p:spPr>
          <a:xfrm>
            <a:off x="685800" y="1508760"/>
            <a:ext cx="640080" cy="640080"/>
          </a:xfrm>
          <a:prstGeom prst="ellipse">
            <a:avLst/>
          </a:prstGeom>
          <a:solidFill>
            <a:schemeClr val="accent4"/>
          </a:solidFill>
          <a:ln w="12700">
            <a:solidFill>
              <a:schemeClr val="accent4"/>
            </a:solidFill>
            <a:prstDash val="solid"/>
          </a:ln>
        </p:spPr>
      </p:sp>
      <p:pic>
        <p:nvPicPr>
          <p:cNvPr id="5" name="Image 0" descr="preencoded.png">    </p:cNvPr>
          <p:cNvPicPr>
            <a:picLocks noChangeAspect="1"/>
          </p:cNvPicPr>
          <p:nvPr/>
        </p:nvPicPr>
        <p:blipFill>
          <a:blip r:embed="rId1"/>
          <a:stretch>
            <a:fillRect/>
          </a:stretch>
        </p:blipFill>
        <p:spPr>
          <a:xfrm>
            <a:off x="850392" y="1673352"/>
            <a:ext cx="310896" cy="310896"/>
          </a:xfrm>
          <a:prstGeom prst="rect">
            <a:avLst/>
          </a:prstGeom>
        </p:spPr>
      </p:pic>
      <p:sp>
        <p:nvSpPr>
          <p:cNvPr id="6" name="Text 3"/>
          <p:cNvSpPr txBox="1"/>
          <p:nvPr/>
        </p:nvSpPr>
        <p:spPr>
          <a:xfrm>
            <a:off x="685800" y="2331720"/>
            <a:ext cx="2194560" cy="457200"/>
          </a:xfrm>
          <a:prstGeom prst="rect">
            <a:avLst/>
          </a:prstGeom>
          <a:noFill/>
          <a:ln/>
        </p:spPr>
        <p:txBody>
          <a:bodyPr wrap="square" lIns="0" tIns="0" rIns="0" bIns="0" rtlCol="0" anchor="t"/>
          <a:lstStyle/>
          <a:p>
            <a:pPr indent="0" marL="0">
              <a:buNone/>
            </a:pPr>
            <a:r>
              <a:rPr lang="en-US" sz="1700" b="1" dirty="0">
                <a:solidFill>
                  <a:schemeClr val="tx1"/>
                </a:solidFill>
              </a:rPr>
              <a:t>Modifier sans crainte</a:t>
            </a:r>
            <a:endParaRPr lang="en-US" sz="1700" dirty="0"/>
          </a:p>
        </p:txBody>
      </p:sp>
      <p:sp>
        <p:nvSpPr>
          <p:cNvPr id="7" name="Text 4"/>
          <p:cNvSpPr txBox="1"/>
          <p:nvPr/>
        </p:nvSpPr>
        <p:spPr>
          <a:xfrm>
            <a:off x="685800" y="2834640"/>
            <a:ext cx="2194560" cy="1463040"/>
          </a:xfrm>
          <a:prstGeom prst="rect">
            <a:avLst/>
          </a:prstGeom>
          <a:noFill/>
          <a:ln/>
        </p:spPr>
        <p:txBody>
          <a:bodyPr wrap="square" lIns="0" tIns="0" rIns="0" bIns="0" rtlCol="0" anchor="t"/>
          <a:lstStyle/>
          <a:p>
            <a:pPr indent="0" marL="0">
              <a:buNone/>
            </a:pPr>
            <a:r>
              <a:rPr lang="en-US" sz="1400" dirty="0">
                <a:solidFill>
                  <a:schemeClr val="tx2"/>
                </a:solidFill>
              </a:rPr>
              <a:t>Un refactoring ou une nouvelle exigence ne casse rien en silence : la suite de tests le signale en quelques secondes.</a:t>
            </a:r>
            <a:endParaRPr lang="en-US" sz="1400" dirty="0"/>
          </a:p>
        </p:txBody>
      </p:sp>
      <p:sp>
        <p:nvSpPr>
          <p:cNvPr id="8" name="raison-1"/>
          <p:cNvSpPr/>
          <p:nvPr/>
        </p:nvSpPr>
        <p:spPr>
          <a:xfrm>
            <a:off x="3273552" y="1280160"/>
            <a:ext cx="2596896" cy="3108960"/>
          </a:xfrm>
          <a:prstGeom prst="roundRect">
            <a:avLst>
              <a:gd name="adj" fmla="val 3521"/>
            </a:avLst>
          </a:prstGeom>
          <a:solidFill>
            <a:schemeClr val="bg2"/>
          </a:solidFill>
          <a:ln w="12700">
            <a:solidFill>
              <a:schemeClr val="bg2"/>
            </a:solidFill>
            <a:prstDash val="solid"/>
          </a:ln>
        </p:spPr>
      </p:sp>
      <p:sp>
        <p:nvSpPr>
          <p:cNvPr id="9" name="Shape 6"/>
          <p:cNvSpPr/>
          <p:nvPr/>
        </p:nvSpPr>
        <p:spPr>
          <a:xfrm>
            <a:off x="3502152" y="1508760"/>
            <a:ext cx="640080" cy="640080"/>
          </a:xfrm>
          <a:prstGeom prst="ellipse">
            <a:avLst/>
          </a:prstGeom>
          <a:solidFill>
            <a:schemeClr val="accent4"/>
          </a:solidFill>
          <a:ln w="12700">
            <a:solidFill>
              <a:schemeClr val="accent4"/>
            </a:solidFill>
            <a:prstDash val="solid"/>
          </a:ln>
        </p:spPr>
      </p:sp>
      <p:pic>
        <p:nvPicPr>
          <p:cNvPr id="10" name="Image 1" descr="preencoded.png">    </p:cNvPr>
          <p:cNvPicPr>
            <a:picLocks noChangeAspect="1"/>
          </p:cNvPicPr>
          <p:nvPr/>
        </p:nvPicPr>
        <p:blipFill>
          <a:blip r:embed="rId2"/>
          <a:stretch>
            <a:fillRect/>
          </a:stretch>
        </p:blipFill>
        <p:spPr>
          <a:xfrm>
            <a:off x="3666744" y="1673352"/>
            <a:ext cx="310896" cy="310896"/>
          </a:xfrm>
          <a:prstGeom prst="rect">
            <a:avLst/>
          </a:prstGeom>
        </p:spPr>
      </p:pic>
      <p:sp>
        <p:nvSpPr>
          <p:cNvPr id="11" name="Text 7"/>
          <p:cNvSpPr txBox="1"/>
          <p:nvPr/>
        </p:nvSpPr>
        <p:spPr>
          <a:xfrm>
            <a:off x="3502152" y="2331720"/>
            <a:ext cx="2194560" cy="457200"/>
          </a:xfrm>
          <a:prstGeom prst="rect">
            <a:avLst/>
          </a:prstGeom>
          <a:noFill/>
          <a:ln/>
        </p:spPr>
        <p:txBody>
          <a:bodyPr wrap="square" lIns="0" tIns="0" rIns="0" bIns="0" rtlCol="0" anchor="t"/>
          <a:lstStyle/>
          <a:p>
            <a:pPr indent="0" marL="0">
              <a:buNone/>
            </a:pPr>
            <a:r>
              <a:rPr lang="en-US" sz="1700" b="1" dirty="0">
                <a:solidFill>
                  <a:schemeClr val="tx1"/>
                </a:solidFill>
              </a:rPr>
              <a:t>Documentation vivante</a:t>
            </a:r>
            <a:endParaRPr lang="en-US" sz="1700" dirty="0"/>
          </a:p>
        </p:txBody>
      </p:sp>
      <p:sp>
        <p:nvSpPr>
          <p:cNvPr id="12" name="Text 8"/>
          <p:cNvSpPr txBox="1"/>
          <p:nvPr/>
        </p:nvSpPr>
        <p:spPr>
          <a:xfrm>
            <a:off x="3502152" y="2834640"/>
            <a:ext cx="2194560" cy="1463040"/>
          </a:xfrm>
          <a:prstGeom prst="rect">
            <a:avLst/>
          </a:prstGeom>
          <a:noFill/>
          <a:ln/>
        </p:spPr>
        <p:txBody>
          <a:bodyPr wrap="square" lIns="0" tIns="0" rIns="0" bIns="0" rtlCol="0" anchor="t"/>
          <a:lstStyle/>
          <a:p>
            <a:pPr indent="0" marL="0">
              <a:buNone/>
            </a:pPr>
            <a:r>
              <a:rPr lang="en-US" sz="1400" dirty="0">
                <a:solidFill>
                  <a:schemeClr val="tx2"/>
                </a:solidFill>
              </a:rPr>
              <a:t>Chaque test montre un exemple d'usage précis. Contrairement à un commentaire, il ne peut pas devenir faux sans qu'on le voie.</a:t>
            </a:r>
            <a:endParaRPr lang="en-US" sz="1400" dirty="0"/>
          </a:p>
        </p:txBody>
      </p:sp>
      <p:sp>
        <p:nvSpPr>
          <p:cNvPr id="13" name="raison-2"/>
          <p:cNvSpPr/>
          <p:nvPr/>
        </p:nvSpPr>
        <p:spPr>
          <a:xfrm>
            <a:off x="6089904" y="1280160"/>
            <a:ext cx="2596896" cy="3108960"/>
          </a:xfrm>
          <a:prstGeom prst="roundRect">
            <a:avLst>
              <a:gd name="adj" fmla="val 3521"/>
            </a:avLst>
          </a:prstGeom>
          <a:solidFill>
            <a:schemeClr val="bg2"/>
          </a:solidFill>
          <a:ln w="12700">
            <a:solidFill>
              <a:schemeClr val="bg2"/>
            </a:solidFill>
            <a:prstDash val="solid"/>
          </a:ln>
        </p:spPr>
      </p:sp>
      <p:sp>
        <p:nvSpPr>
          <p:cNvPr id="14" name="Shape 10"/>
          <p:cNvSpPr/>
          <p:nvPr/>
        </p:nvSpPr>
        <p:spPr>
          <a:xfrm>
            <a:off x="6318504" y="1508760"/>
            <a:ext cx="640080" cy="640080"/>
          </a:xfrm>
          <a:prstGeom prst="ellipse">
            <a:avLst/>
          </a:prstGeom>
          <a:solidFill>
            <a:schemeClr val="accent4"/>
          </a:solidFill>
          <a:ln w="12700">
            <a:solidFill>
              <a:schemeClr val="accent4"/>
            </a:solidFill>
            <a:prstDash val="solid"/>
          </a:ln>
        </p:spPr>
      </p:sp>
      <p:pic>
        <p:nvPicPr>
          <p:cNvPr id="15" name="Image 2" descr="preencoded.png">    </p:cNvPr>
          <p:cNvPicPr>
            <a:picLocks noChangeAspect="1"/>
          </p:cNvPicPr>
          <p:nvPr/>
        </p:nvPicPr>
        <p:blipFill>
          <a:blip r:embed="rId3"/>
          <a:stretch>
            <a:fillRect/>
          </a:stretch>
        </p:blipFill>
        <p:spPr>
          <a:xfrm>
            <a:off x="6483096" y="1673352"/>
            <a:ext cx="310896" cy="310896"/>
          </a:xfrm>
          <a:prstGeom prst="rect">
            <a:avLst/>
          </a:prstGeom>
        </p:spPr>
      </p:pic>
      <p:sp>
        <p:nvSpPr>
          <p:cNvPr id="16" name="Text 11"/>
          <p:cNvSpPr txBox="1"/>
          <p:nvPr/>
        </p:nvSpPr>
        <p:spPr>
          <a:xfrm>
            <a:off x="6318504" y="2331720"/>
            <a:ext cx="2194560" cy="457200"/>
          </a:xfrm>
          <a:prstGeom prst="rect">
            <a:avLst/>
          </a:prstGeom>
          <a:noFill/>
          <a:ln/>
        </p:spPr>
        <p:txBody>
          <a:bodyPr wrap="square" lIns="0" tIns="0" rIns="0" bIns="0" rtlCol="0" anchor="t"/>
          <a:lstStyle/>
          <a:p>
            <a:pPr indent="0" marL="0">
              <a:buNone/>
            </a:pPr>
            <a:r>
              <a:rPr lang="en-US" sz="1700" b="1" dirty="0">
                <a:solidFill>
                  <a:schemeClr val="tx1"/>
                </a:solidFill>
              </a:rPr>
              <a:t>Trouver les bugs tôt</a:t>
            </a:r>
            <a:endParaRPr lang="en-US" sz="1700" dirty="0"/>
          </a:p>
        </p:txBody>
      </p:sp>
      <p:sp>
        <p:nvSpPr>
          <p:cNvPr id="17" name="Text 12"/>
          <p:cNvSpPr txBox="1"/>
          <p:nvPr/>
        </p:nvSpPr>
        <p:spPr>
          <a:xfrm>
            <a:off x="6318504" y="2834640"/>
            <a:ext cx="2194560" cy="1463040"/>
          </a:xfrm>
          <a:prstGeom prst="rect">
            <a:avLst/>
          </a:prstGeom>
          <a:noFill/>
          <a:ln/>
        </p:spPr>
        <p:txBody>
          <a:bodyPr wrap="square" lIns="0" tIns="0" rIns="0" bIns="0" rtlCol="0" anchor="t"/>
          <a:lstStyle/>
          <a:p>
            <a:pPr indent="0" marL="0">
              <a:buNone/>
            </a:pPr>
            <a:r>
              <a:rPr lang="en-US" sz="1400" dirty="0">
                <a:solidFill>
                  <a:schemeClr val="tx2"/>
                </a:solidFill>
              </a:rPr>
              <a:t>Un bug trouvé par un test unitaire coûte quelques minutes. Le même bug trouvé par un utilisateur coûte bien plus.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9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La pyramide des tests</a:t>
            </a:r>
            <a:endParaRPr lang="en-US" sz="3000" dirty="0"/>
          </a:p>
        </p:txBody>
      </p:sp>
      <p:sp>
        <p:nvSpPr>
          <p:cNvPr id="3" name="niveau-0"/>
          <p:cNvSpPr/>
          <p:nvPr/>
        </p:nvSpPr>
        <p:spPr>
          <a:xfrm>
            <a:off x="1554480" y="1234440"/>
            <a:ext cx="1554480" cy="960120"/>
          </a:xfrm>
          <a:prstGeom prst="rect">
            <a:avLst/>
          </a:prstGeom>
          <a:solidFill>
            <a:schemeClr val="tx2"/>
          </a:solidFill>
          <a:ln w="12700">
            <a:solidFill>
              <a:schemeClr val="tx2"/>
            </a:solidFill>
            <a:prstDash val="solid"/>
          </a:ln>
        </p:spPr>
      </p:sp>
      <p:sp>
        <p:nvSpPr>
          <p:cNvPr id="4" name="Text 2"/>
          <p:cNvSpPr txBox="1"/>
          <p:nvPr/>
        </p:nvSpPr>
        <p:spPr>
          <a:xfrm>
            <a:off x="1554480" y="1234440"/>
            <a:ext cx="1554480" cy="960120"/>
          </a:xfrm>
          <a:prstGeom prst="rect">
            <a:avLst/>
          </a:prstGeom>
          <a:noFill/>
          <a:ln/>
        </p:spPr>
        <p:txBody>
          <a:bodyPr wrap="square" lIns="0" tIns="0" rIns="0" bIns="0" rtlCol="0" anchor="ctr"/>
          <a:lstStyle/>
          <a:p>
            <a:pPr algn="ctr" indent="0" marL="0">
              <a:buNone/>
            </a:pPr>
            <a:r>
              <a:rPr lang="en-US" sz="1600" b="1" dirty="0">
                <a:solidFill>
                  <a:schemeClr val="bg1"/>
                </a:solidFill>
              </a:rPr>
              <a:t>End-to-end</a:t>
            </a:r>
            <a:endParaRPr lang="en-US" sz="1600" dirty="0"/>
          </a:p>
        </p:txBody>
      </p:sp>
      <p:sp>
        <p:nvSpPr>
          <p:cNvPr id="5" name="Text 3"/>
          <p:cNvSpPr txBox="1"/>
          <p:nvPr/>
        </p:nvSpPr>
        <p:spPr>
          <a:xfrm>
            <a:off x="4480560" y="1234440"/>
            <a:ext cx="4206240" cy="960120"/>
          </a:xfrm>
          <a:prstGeom prst="rect">
            <a:avLst/>
          </a:prstGeom>
          <a:noFill/>
          <a:ln/>
        </p:spPr>
        <p:txBody>
          <a:bodyPr wrap="square" lIns="0" tIns="0" rIns="0" bIns="0" rtlCol="0" anchor="ctr"/>
          <a:lstStyle/>
          <a:p>
            <a:pPr indent="0" marL="0">
              <a:buNone/>
            </a:pPr>
            <a:r>
              <a:rPr lang="en-US" sz="1400" b="1" dirty="0">
                <a:solidFill>
                  <a:schemeClr val="tx1"/>
                </a:solidFill>
              </a:rPr>
              <a:t>Peu nombreux, lents (secondes)</a:t>
            </a:r>
            <a:endParaRPr lang="en-US" sz="1400" dirty="0"/>
          </a:p>
          <a:p>
            <a:pPr indent="0" marL="0">
              <a:buNone/>
            </a:pPr>
            <a:r>
              <a:rPr lang="en-US" sz="1400" dirty="0">
                <a:solidFill>
                  <a:schemeClr val="tx2"/>
                </a:solidFill>
              </a:rPr>
              <a:t>Le système complet : la CLI, un sous-processus, le réseau. Ex. : jarvis ask "Note : …" crée la note.</a:t>
            </a:r>
            <a:endParaRPr lang="en-US" sz="1400" dirty="0"/>
          </a:p>
        </p:txBody>
      </p:sp>
      <p:sp>
        <p:nvSpPr>
          <p:cNvPr id="6" name="niveau-1"/>
          <p:cNvSpPr/>
          <p:nvPr/>
        </p:nvSpPr>
        <p:spPr>
          <a:xfrm>
            <a:off x="1005840" y="2350008"/>
            <a:ext cx="2651760" cy="960120"/>
          </a:xfrm>
          <a:prstGeom prst="rect">
            <a:avLst/>
          </a:prstGeom>
          <a:solidFill>
            <a:schemeClr val="accent4"/>
          </a:solidFill>
          <a:ln w="12700">
            <a:solidFill>
              <a:schemeClr val="accent4"/>
            </a:solidFill>
            <a:prstDash val="solid"/>
          </a:ln>
        </p:spPr>
      </p:sp>
      <p:sp>
        <p:nvSpPr>
          <p:cNvPr id="7" name="Text 5"/>
          <p:cNvSpPr txBox="1"/>
          <p:nvPr/>
        </p:nvSpPr>
        <p:spPr>
          <a:xfrm>
            <a:off x="1005840" y="2350008"/>
            <a:ext cx="2651760" cy="960120"/>
          </a:xfrm>
          <a:prstGeom prst="rect">
            <a:avLst/>
          </a:prstGeom>
          <a:noFill/>
          <a:ln/>
        </p:spPr>
        <p:txBody>
          <a:bodyPr wrap="square" lIns="0" tIns="0" rIns="0" bIns="0" rtlCol="0" anchor="ctr"/>
          <a:lstStyle/>
          <a:p>
            <a:pPr algn="ctr" indent="0" marL="0">
              <a:buNone/>
            </a:pPr>
            <a:r>
              <a:rPr lang="en-US" sz="1600" b="1" dirty="0">
                <a:solidFill>
                  <a:schemeClr val="bg1"/>
                </a:solidFill>
              </a:rPr>
              <a:t>Fonctionnels</a:t>
            </a:r>
            <a:endParaRPr lang="en-US" sz="1600" dirty="0"/>
          </a:p>
        </p:txBody>
      </p:sp>
      <p:sp>
        <p:nvSpPr>
          <p:cNvPr id="8" name="Text 6"/>
          <p:cNvSpPr txBox="1"/>
          <p:nvPr/>
        </p:nvSpPr>
        <p:spPr>
          <a:xfrm>
            <a:off x="4480560" y="2350008"/>
            <a:ext cx="4206240" cy="960120"/>
          </a:xfrm>
          <a:prstGeom prst="rect">
            <a:avLst/>
          </a:prstGeom>
          <a:noFill/>
          <a:ln/>
        </p:spPr>
        <p:txBody>
          <a:bodyPr wrap="square" lIns="0" tIns="0" rIns="0" bIns="0" rtlCol="0" anchor="ctr"/>
          <a:lstStyle/>
          <a:p>
            <a:pPr indent="0" marL="0">
              <a:buNone/>
            </a:pPr>
            <a:r>
              <a:rPr lang="en-US" sz="1400" b="1" dirty="0">
                <a:solidFill>
                  <a:schemeClr val="tx1"/>
                </a:solidFill>
              </a:rPr>
              <a:t>Une dizaine, rapides</a:t>
            </a:r>
            <a:endParaRPr lang="en-US" sz="1400" dirty="0"/>
          </a:p>
          <a:p>
            <a:pPr indent="0" marL="0">
              <a:buNone/>
            </a:pPr>
            <a:r>
              <a:rPr lang="en-US" sz="1400" dirty="0">
                <a:solidFill>
                  <a:schemeClr val="tx2"/>
                </a:solidFill>
              </a:rPr>
              <a:t>Un scénario à travers plusieurs modules réels, sans réseau ni LLM. Ex. : l'agent appelle add_note via MCP.</a:t>
            </a:r>
            <a:endParaRPr lang="en-US" sz="1400" dirty="0"/>
          </a:p>
        </p:txBody>
      </p:sp>
      <p:sp>
        <p:nvSpPr>
          <p:cNvPr id="9" name="niveau-2"/>
          <p:cNvSpPr/>
          <p:nvPr/>
        </p:nvSpPr>
        <p:spPr>
          <a:xfrm>
            <a:off x="457200" y="3465576"/>
            <a:ext cx="3749040" cy="960120"/>
          </a:xfrm>
          <a:prstGeom prst="rect">
            <a:avLst/>
          </a:prstGeom>
          <a:solidFill>
            <a:schemeClr val="accent5"/>
          </a:solidFill>
          <a:ln w="12700">
            <a:solidFill>
              <a:schemeClr val="accent5"/>
            </a:solidFill>
            <a:prstDash val="solid"/>
          </a:ln>
        </p:spPr>
      </p:sp>
      <p:sp>
        <p:nvSpPr>
          <p:cNvPr id="10" name="Text 8"/>
          <p:cNvSpPr txBox="1"/>
          <p:nvPr/>
        </p:nvSpPr>
        <p:spPr>
          <a:xfrm>
            <a:off x="457200" y="3465576"/>
            <a:ext cx="3749040" cy="960120"/>
          </a:xfrm>
          <a:prstGeom prst="rect">
            <a:avLst/>
          </a:prstGeom>
          <a:noFill/>
          <a:ln/>
        </p:spPr>
        <p:txBody>
          <a:bodyPr wrap="square" lIns="0" tIns="0" rIns="0" bIns="0" rtlCol="0" anchor="ctr"/>
          <a:lstStyle/>
          <a:p>
            <a:pPr algn="ctr" indent="0" marL="0">
              <a:buNone/>
            </a:pPr>
            <a:r>
              <a:rPr lang="en-US" sz="1600" b="1" dirty="0">
                <a:solidFill>
                  <a:schemeClr val="bg1"/>
                </a:solidFill>
              </a:rPr>
              <a:t>Unitaires</a:t>
            </a:r>
            <a:endParaRPr lang="en-US" sz="1600" dirty="0"/>
          </a:p>
        </p:txBody>
      </p:sp>
      <p:sp>
        <p:nvSpPr>
          <p:cNvPr id="11" name="Text 9"/>
          <p:cNvSpPr txBox="1"/>
          <p:nvPr/>
        </p:nvSpPr>
        <p:spPr>
          <a:xfrm>
            <a:off x="4480560" y="3465576"/>
            <a:ext cx="4206240" cy="960120"/>
          </a:xfrm>
          <a:prstGeom prst="rect">
            <a:avLst/>
          </a:prstGeom>
          <a:noFill/>
          <a:ln/>
        </p:spPr>
        <p:txBody>
          <a:bodyPr wrap="square" lIns="0" tIns="0" rIns="0" bIns="0" rtlCol="0" anchor="ctr"/>
          <a:lstStyle/>
          <a:p>
            <a:pPr indent="0" marL="0">
              <a:buNone/>
            </a:pPr>
            <a:r>
              <a:rPr lang="en-US" sz="1400" b="1" dirty="0">
                <a:solidFill>
                  <a:schemeClr val="tx1"/>
                </a:solidFill>
              </a:rPr>
              <a:t>Nombreux, très rapides (ms)</a:t>
            </a:r>
            <a:endParaRPr lang="en-US" sz="1400" dirty="0"/>
          </a:p>
          <a:p>
            <a:pPr indent="0" marL="0">
              <a:buNone/>
            </a:pPr>
            <a:r>
              <a:rPr lang="en-US" sz="1400" dirty="0">
                <a:solidFill>
                  <a:schemeClr val="tx2"/>
                </a:solidFill>
              </a:rPr>
              <a:t>Une fonction ou une classe, isolée. Ex. : calculate(7, "/", 2) vaut 3.5.</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9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1280160"/>
            <a:ext cx="8046720" cy="1371600"/>
          </a:xfrm>
          <a:prstGeom prst="rect">
            <a:avLst/>
          </a:prstGeom>
          <a:noFill/>
          <a:ln/>
        </p:spPr>
        <p:txBody>
          <a:bodyPr wrap="square" rtlCol="0" anchor="b"/>
          <a:lstStyle/>
          <a:p>
            <a:pPr algn="l" indent="0" marL="0">
              <a:buNone/>
            </a:pPr>
            <a:r>
              <a:rPr lang="en-US" sz="3600" b="1" dirty="0">
                <a:solidFill>
                  <a:schemeClr val="bg1"/>
                </a:solidFill>
              </a:rPr>
              <a:t>pytest en pratique</a:t>
            </a:r>
            <a:endParaRPr lang="en-US" sz="3600" dirty="0"/>
          </a:p>
        </p:txBody>
      </p:sp>
      <p:sp>
        <p:nvSpPr>
          <p:cNvPr id="3" name="Text 0"/>
          <p:cNvSpPr/>
          <p:nvPr>
            <p:ph idx="101" type="body" hasCustomPrompt="1"/>
          </p:nvPr>
        </p:nvSpPr>
        <p:spPr>
          <a:xfrm>
            <a:off x="548640" y="2788920"/>
            <a:ext cx="8046720" cy="731520"/>
          </a:xfrm>
          <a:prstGeom prst="rect">
            <a:avLst/>
          </a:prstGeom>
          <a:noFill/>
          <a:ln/>
        </p:spPr>
        <p:txBody>
          <a:bodyPr wrap="square" rtlCol="0" anchor="t"/>
          <a:lstStyle/>
          <a:p>
            <a:pPr algn="l" indent="0" marL="0">
              <a:buNone/>
            </a:pPr>
            <a:r>
              <a:rPr lang="en-US" sz="1800" dirty="0">
                <a:solidFill>
                  <a:schemeClr val="accent6"/>
                </a:solidFill>
              </a:rPr>
              <a:t>L'essentiel pour la journée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Un test, c'est une fonction et un assert</a:t>
            </a:r>
            <a:endParaRPr lang="en-US" sz="3000" dirty="0"/>
          </a:p>
        </p:txBody>
      </p:sp>
      <p:sp>
        <p:nvSpPr>
          <p:cNvPr id="3" name="code-premier-test"/>
          <p:cNvSpPr/>
          <p:nvPr/>
        </p:nvSpPr>
        <p:spPr>
          <a:xfrm>
            <a:off x="457200" y="1280160"/>
            <a:ext cx="4572000" cy="1828800"/>
          </a:xfrm>
          <a:prstGeom prst="roundRect">
            <a:avLst>
              <a:gd name="adj" fmla="val 4000"/>
            </a:avLst>
          </a:prstGeom>
          <a:solidFill>
            <a:schemeClr val="tx1"/>
          </a:solidFill>
          <a:ln w="12700">
            <a:solidFill>
              <a:schemeClr val="tx1"/>
            </a:solidFill>
            <a:prstDash val="solid"/>
          </a:ln>
        </p:spPr>
      </p:sp>
      <p:sp>
        <p:nvSpPr>
          <p:cNvPr id="4" name="code-premier-test-texte"/>
          <p:cNvSpPr txBox="1"/>
          <p:nvPr/>
        </p:nvSpPr>
        <p:spPr>
          <a:xfrm>
            <a:off x="594360" y="1389888"/>
            <a:ext cx="4297680" cy="1609344"/>
          </a:xfrm>
          <a:prstGeom prst="rect">
            <a:avLst/>
          </a:prstGeom>
          <a:noFill/>
          <a:ln/>
        </p:spPr>
        <p:txBody>
          <a:bodyPr wrap="square" lIns="0" tIns="0" rIns="0" bIns="0" rtlCol="0" anchor="t"/>
          <a:lstStyle/>
          <a:p>
            <a:pPr indent="0" marL="0">
              <a:buNone/>
            </a:pPr>
            <a:r>
              <a:rPr lang="en-US" sz="1200" dirty="0">
                <a:solidFill>
                  <a:schemeClr val="accent6"/>
                </a:solidFill>
                <a:latin typeface="Courier New" pitchFamily="34" charset="0"/>
                <a:ea typeface="Courier New" pitchFamily="34" charset="-122"/>
                <a:cs typeface="Courier New" pitchFamily="34" charset="-120"/>
              </a:rPr>
              <a:t># tests/unit/test_tools.py</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from mini_jarvis.tools import calculate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def test_T1_addition():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assert calculate(2, "+", 3) == 5.0</a:t>
            </a:r>
            <a:endParaRPr lang="en-US" sz="1200" dirty="0"/>
          </a:p>
        </p:txBody>
      </p:sp>
      <p:sp>
        <p:nvSpPr>
          <p:cNvPr id="5" name="code-commandes"/>
          <p:cNvSpPr/>
          <p:nvPr/>
        </p:nvSpPr>
        <p:spPr>
          <a:xfrm>
            <a:off x="457200" y="3291840"/>
            <a:ext cx="4572000" cy="1097280"/>
          </a:xfrm>
          <a:prstGeom prst="roundRect">
            <a:avLst>
              <a:gd name="adj" fmla="val 6667"/>
            </a:avLst>
          </a:prstGeom>
          <a:solidFill>
            <a:schemeClr val="tx1"/>
          </a:solidFill>
          <a:ln w="12700">
            <a:solidFill>
              <a:schemeClr val="tx1"/>
            </a:solidFill>
            <a:prstDash val="solid"/>
          </a:ln>
        </p:spPr>
      </p:sp>
      <p:sp>
        <p:nvSpPr>
          <p:cNvPr id="6" name="code-commandes-texte"/>
          <p:cNvSpPr txBox="1"/>
          <p:nvPr/>
        </p:nvSpPr>
        <p:spPr>
          <a:xfrm>
            <a:off x="594360" y="3401568"/>
            <a:ext cx="4297680" cy="87782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 uv run pytest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uv run pytest -k T1 -x</a:t>
            </a:r>
            <a:endParaRPr lang="en-US" sz="1200" dirty="0"/>
          </a:p>
        </p:txBody>
      </p:sp>
      <p:sp>
        <p:nvSpPr>
          <p:cNvPr id="7" name="Text 5"/>
          <p:cNvSpPr txBox="1"/>
          <p:nvPr/>
        </p:nvSpPr>
        <p:spPr>
          <a:xfrm>
            <a:off x="5394960" y="1280160"/>
            <a:ext cx="3291840" cy="310896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chemeClr val="tx1"/>
                </a:solidFill>
              </a:rPr>
              <a:t>Découverte automatique :</a:t>
            </a:r>
            <a:pPr indent="0" marL="0">
              <a:spcAft>
                <a:spcPts val="800"/>
              </a:spcAft>
              <a:buNone/>
            </a:pPr>
            <a:r>
              <a:rPr lang="en-US" sz="1400" dirty="0">
                <a:solidFill>
                  <a:schemeClr val="tx1"/>
                </a:solidFill>
              </a:rPr>
              <a:t> fichiers test_*.py, fonctions test_*.</a:t>
            </a:r>
            <a:endParaRPr lang="en-US" sz="1400" dirty="0"/>
          </a:p>
          <a:p>
            <a:pPr marL="342900" indent="-342900">
              <a:spcAft>
                <a:spcPts val="800"/>
              </a:spcAft>
              <a:buSzPct val="100000"/>
              <a:buChar char="•"/>
            </a:pPr>
            <a:r>
              <a:rPr lang="en-US" sz="1400" b="1" dirty="0">
                <a:solidFill>
                  <a:schemeClr val="tx1"/>
                </a:solidFill>
              </a:rPr>
              <a:t>Un assert Python suffit :</a:t>
            </a:r>
            <a:pPr indent="0" marL="0">
              <a:spcAft>
                <a:spcPts val="800"/>
              </a:spcAft>
              <a:buNone/>
            </a:pPr>
            <a:r>
              <a:rPr lang="en-US" sz="1400" dirty="0">
                <a:solidFill>
                  <a:schemeClr val="tx1"/>
                </a:solidFill>
              </a:rPr>
              <a:t> en cas d'échec, pytest affiche les deux valeurs comparées.</a:t>
            </a:r>
            <a:endParaRPr lang="en-US" sz="1400" dirty="0"/>
          </a:p>
          <a:p>
            <a:pPr marL="342900" indent="-342900">
              <a:spcAft>
                <a:spcPts val="800"/>
              </a:spcAft>
              <a:buSzPct val="100000"/>
              <a:buChar char="•"/>
            </a:pPr>
            <a:r>
              <a:rPr lang="en-US" sz="1400" b="1" dirty="0">
                <a:solidFill>
                  <a:schemeClr val="tx1"/>
                </a:solidFill>
              </a:rPr>
              <a:t>-k T1</a:t>
            </a:r>
            <a:pPr indent="0" marL="0">
              <a:spcAft>
                <a:spcPts val="800"/>
              </a:spcAft>
              <a:buNone/>
            </a:pPr>
            <a:r>
              <a:rPr lang="en-US" sz="1400" dirty="0">
                <a:solidFill>
                  <a:schemeClr val="tx1"/>
                </a:solidFill>
              </a:rPr>
              <a:t> lance les tests dont le nom contient T1.</a:t>
            </a:r>
            <a:endParaRPr lang="en-US" sz="1400" dirty="0"/>
          </a:p>
          <a:p>
            <a:pPr marL="342900" indent="-342900">
              <a:spcAft>
                <a:spcPts val="800"/>
              </a:spcAft>
              <a:buSzPct val="100000"/>
              <a:buChar char="•"/>
            </a:pPr>
            <a:r>
              <a:rPr lang="en-US" sz="1400" b="1" dirty="0">
                <a:solidFill>
                  <a:schemeClr val="tx1"/>
                </a:solidFill>
              </a:rPr>
              <a:t>-x</a:t>
            </a:r>
            <a:pPr indent="0" marL="0">
              <a:spcAft>
                <a:spcPts val="800"/>
              </a:spcAft>
              <a:buNone/>
            </a:pPr>
            <a:r>
              <a:rPr lang="en-US" sz="1400" dirty="0">
                <a:solidFill>
                  <a:schemeClr val="tx1"/>
                </a:solidFill>
              </a:rPr>
              <a:t> s'arrête au premier échec.</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9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Un test, plusieurs exemples : parametrize</a:t>
            </a:r>
            <a:endParaRPr lang="en-US" sz="3000" dirty="0"/>
          </a:p>
        </p:txBody>
      </p:sp>
      <p:sp>
        <p:nvSpPr>
          <p:cNvPr id="3" name="code-parametrize"/>
          <p:cNvSpPr/>
          <p:nvPr/>
        </p:nvSpPr>
        <p:spPr>
          <a:xfrm>
            <a:off x="457200" y="1280160"/>
            <a:ext cx="4937760" cy="3108960"/>
          </a:xfrm>
          <a:prstGeom prst="roundRect">
            <a:avLst>
              <a:gd name="adj" fmla="val 2353"/>
            </a:avLst>
          </a:prstGeom>
          <a:solidFill>
            <a:schemeClr val="tx1"/>
          </a:solidFill>
          <a:ln w="12700">
            <a:solidFill>
              <a:schemeClr val="tx1"/>
            </a:solidFill>
            <a:prstDash val="solid"/>
          </a:ln>
        </p:spPr>
      </p:sp>
      <p:sp>
        <p:nvSpPr>
          <p:cNvPr id="4" name="code-parametrize-texte"/>
          <p:cNvSpPr txBox="1"/>
          <p:nvPr/>
        </p:nvSpPr>
        <p:spPr>
          <a:xfrm>
            <a:off x="594360" y="1389888"/>
            <a:ext cx="4663440" cy="2889504"/>
          </a:xfrm>
          <a:prstGeom prst="rect">
            <a:avLst/>
          </a:prstGeom>
          <a:noFill/>
          <a:ln/>
        </p:spPr>
        <p:txBody>
          <a:bodyPr wrap="square" lIns="0" tIns="0" rIns="0" bIns="0" rtlCol="0" anchor="t"/>
          <a:lstStyle/>
          <a:p>
            <a:pPr indent="0" marL="0">
              <a:buNone/>
            </a:pPr>
            <a:r>
              <a:rPr lang="en-US" sz="1200" dirty="0">
                <a:solidFill>
                  <a:schemeClr val="accent3"/>
                </a:solidFill>
                <a:latin typeface="Courier New" pitchFamily="34" charset="0"/>
                <a:ea typeface="Courier New" pitchFamily="34" charset="-122"/>
                <a:cs typeface="Courier New" pitchFamily="34" charset="-120"/>
              </a:rPr>
              <a:t>@pytest.mark.parametrize(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 op, b, attendu",</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(2, "+", 3, 5.0),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(10, "-", 4, 6.0),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(6, "*", 7, 42.0),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(7, "/", 2, 3.5),</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def test_T1_operations(a, op, b, attendu):</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assert calculate(a, op, b) == attendu</a:t>
            </a:r>
            <a:endParaRPr lang="en-US" sz="1200" dirty="0"/>
          </a:p>
        </p:txBody>
      </p:sp>
      <p:sp>
        <p:nvSpPr>
          <p:cNvPr id="5" name="Text 3"/>
          <p:cNvSpPr txBox="1"/>
          <p:nvPr/>
        </p:nvSpPr>
        <p:spPr>
          <a:xfrm>
            <a:off x="5760720" y="1280160"/>
            <a:ext cx="292608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Chaque tuple devient un test distinct dans le rapport.</a:t>
            </a:r>
            <a:endParaRPr lang="en-US" sz="1500" dirty="0"/>
          </a:p>
          <a:p>
            <a:pPr marL="342900" indent="-342900">
              <a:spcAft>
                <a:spcPts val="800"/>
              </a:spcAft>
              <a:buSzPct val="100000"/>
              <a:buChar char="•"/>
            </a:pPr>
            <a:r>
              <a:rPr lang="en-US" sz="1500" dirty="0">
                <a:solidFill>
                  <a:schemeClr val="tx1"/>
                </a:solidFill>
              </a:rPr>
              <a:t>Un échec indique exactement quel exemple ne passe pas.</a:t>
            </a:r>
            <a:endParaRPr lang="en-US" sz="1500" dirty="0"/>
          </a:p>
          <a:p>
            <a:pPr marL="342900" indent="-342900">
              <a:spcAft>
                <a:spcPts val="800"/>
              </a:spcAft>
              <a:buSzPct val="100000"/>
              <a:buChar char="•"/>
            </a:pPr>
            <a:r>
              <a:rPr lang="en-US" sz="1500" dirty="0">
                <a:solidFill>
                  <a:schemeClr val="tx1"/>
                </a:solidFill>
              </a:rPr>
              <a:t>Idéal pour les tableaux d'exemples de l'énoncé (T1, T3, T4).</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9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Tester les erreurs et les flottants</a:t>
            </a:r>
            <a:endParaRPr lang="en-US" sz="3000" dirty="0"/>
          </a:p>
        </p:txBody>
      </p:sp>
      <p:sp>
        <p:nvSpPr>
          <p:cNvPr id="3" name="code-raises"/>
          <p:cNvSpPr/>
          <p:nvPr/>
        </p:nvSpPr>
        <p:spPr>
          <a:xfrm>
            <a:off x="457200" y="1280160"/>
            <a:ext cx="4937760" cy="3108960"/>
          </a:xfrm>
          <a:prstGeom prst="roundRect">
            <a:avLst>
              <a:gd name="adj" fmla="val 2353"/>
            </a:avLst>
          </a:prstGeom>
          <a:solidFill>
            <a:schemeClr val="tx1"/>
          </a:solidFill>
          <a:ln w="12700">
            <a:solidFill>
              <a:schemeClr val="tx1"/>
            </a:solidFill>
            <a:prstDash val="solid"/>
          </a:ln>
        </p:spPr>
      </p:sp>
      <p:sp>
        <p:nvSpPr>
          <p:cNvPr id="4" name="code-raises-texte"/>
          <p:cNvSpPr txBox="1"/>
          <p:nvPr/>
        </p:nvSpPr>
        <p:spPr>
          <a:xfrm>
            <a:off x="594360" y="1389888"/>
            <a:ext cx="4663440" cy="288950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def test_T2_division_par_zero():</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with pytest.raises(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ToolError, match="Division par zéro"</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calculate(1, "/", 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def test_T3_miles_en_km():</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assert convert(1, "mi", "km") ==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pytest.approx(1.609344)</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p:txBody>
      </p:sp>
      <p:sp>
        <p:nvSpPr>
          <p:cNvPr id="5" name="Text 3"/>
          <p:cNvSpPr txBox="1"/>
          <p:nvPr/>
        </p:nvSpPr>
        <p:spPr>
          <a:xfrm>
            <a:off x="5760720" y="1280160"/>
            <a:ext cx="2926080" cy="310896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chemeClr val="tx1"/>
                </a:solidFill>
              </a:rPr>
              <a:t>pytest.raises</a:t>
            </a:r>
            <a:pPr indent="0" marL="0">
              <a:spcAft>
                <a:spcPts val="800"/>
              </a:spcAft>
              <a:buNone/>
            </a:pPr>
            <a:r>
              <a:rPr lang="en-US" sz="1500" dirty="0">
                <a:solidFill>
                  <a:schemeClr val="tx1"/>
                </a:solidFill>
              </a:rPr>
              <a:t> vérifie le type de l'exception ; match vérifie son message (expression régulière).</a:t>
            </a:r>
            <a:endParaRPr lang="en-US" sz="1500" dirty="0"/>
          </a:p>
          <a:p>
            <a:pPr marL="342900" indent="-342900">
              <a:spcAft>
                <a:spcPts val="800"/>
              </a:spcAft>
              <a:buSzPct val="100000"/>
              <a:buChar char="•"/>
            </a:pPr>
            <a:r>
              <a:rPr lang="en-US" sz="1500" b="1" dirty="0">
                <a:solidFill>
                  <a:schemeClr val="tx1"/>
                </a:solidFill>
              </a:rPr>
              <a:t>pytest.approx</a:t>
            </a:r>
            <a:pPr indent="0" marL="0">
              <a:spcAft>
                <a:spcPts val="800"/>
              </a:spcAft>
              <a:buNone/>
            </a:pPr>
            <a:r>
              <a:rPr lang="en-US" sz="1500" dirty="0">
                <a:solidFill>
                  <a:schemeClr val="tx1"/>
                </a:solidFill>
              </a:rPr>
              <a:t> compare des flottants avec une tolérance : 0.1 + 0.2 == 0.3 est faux en Python.</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9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Préparer le terrain avec les fixtures</a:t>
            </a:r>
            <a:endParaRPr lang="en-US" sz="3000" dirty="0"/>
          </a:p>
        </p:txBody>
      </p:sp>
      <p:sp>
        <p:nvSpPr>
          <p:cNvPr id="3" name="code-fixtures"/>
          <p:cNvSpPr/>
          <p:nvPr/>
        </p:nvSpPr>
        <p:spPr>
          <a:xfrm>
            <a:off x="457200" y="1280160"/>
            <a:ext cx="4937760" cy="3108960"/>
          </a:xfrm>
          <a:prstGeom prst="roundRect">
            <a:avLst>
              <a:gd name="adj" fmla="val 2353"/>
            </a:avLst>
          </a:prstGeom>
          <a:solidFill>
            <a:schemeClr val="tx1"/>
          </a:solidFill>
          <a:ln w="12700">
            <a:solidFill>
              <a:schemeClr val="tx1"/>
            </a:solidFill>
            <a:prstDash val="solid"/>
          </a:ln>
        </p:spPr>
      </p:sp>
      <p:sp>
        <p:nvSpPr>
          <p:cNvPr id="4" name="code-fixtures-texte"/>
          <p:cNvSpPr txBox="1"/>
          <p:nvPr/>
        </p:nvSpPr>
        <p:spPr>
          <a:xfrm>
            <a:off x="594360" y="1389888"/>
            <a:ext cx="4663440" cy="2889504"/>
          </a:xfrm>
          <a:prstGeom prst="rect">
            <a:avLst/>
          </a:prstGeom>
          <a:noFill/>
          <a:ln/>
        </p:spPr>
        <p:txBody>
          <a:bodyPr wrap="square" lIns="0" tIns="0" rIns="0" bIns="0" rtlCol="0" anchor="t"/>
          <a:lstStyle/>
          <a:p>
            <a:pPr indent="0" marL="0">
              <a:buNone/>
            </a:pPr>
            <a:r>
              <a:rPr lang="en-US" sz="1200" dirty="0">
                <a:solidFill>
                  <a:schemeClr val="accent3"/>
                </a:solidFill>
                <a:latin typeface="Courier New" pitchFamily="34" charset="0"/>
                <a:ea typeface="Courier New" pitchFamily="34" charset="-122"/>
                <a:cs typeface="Courier New" pitchFamily="34" charset="-120"/>
              </a:rPr>
              <a:t>@pytest.fixture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def store(tmp_path):</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return NoteStore(tmp_path / "notes.json")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def test_N1_premier_id(store):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assert store.add("lait") == 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def test_N3_ids_non_reutilises(store):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store.add("a"); store.add("b")</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store.delete(2)</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assert store.add("c") == 3</a:t>
            </a:r>
            <a:endParaRPr lang="en-US" sz="1200" dirty="0"/>
          </a:p>
        </p:txBody>
      </p:sp>
      <p:sp>
        <p:nvSpPr>
          <p:cNvPr id="5" name="Text 3"/>
          <p:cNvSpPr txBox="1"/>
          <p:nvPr/>
        </p:nvSpPr>
        <p:spPr>
          <a:xfrm>
            <a:off x="5760720" y="1280160"/>
            <a:ext cx="2926080" cy="310896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chemeClr val="tx1"/>
                </a:solidFill>
              </a:rPr>
              <a:t>Injection par le nom :</a:t>
            </a:r>
            <a:pPr indent="0" marL="0">
              <a:spcAft>
                <a:spcPts val="800"/>
              </a:spcAft>
              <a:buNone/>
            </a:pPr>
            <a:r>
              <a:rPr lang="en-US" sz="1500" dirty="0">
                <a:solidFill>
                  <a:schemeClr val="tx1"/>
                </a:solidFill>
              </a:rPr>
              <a:t> pytest fournit la fixture dont le nom est un paramètre du test.</a:t>
            </a:r>
            <a:endParaRPr lang="en-US" sz="1500" dirty="0"/>
          </a:p>
          <a:p>
            <a:pPr marL="342900" indent="-342900">
              <a:spcAft>
                <a:spcPts val="800"/>
              </a:spcAft>
              <a:buSzPct val="100000"/>
              <a:buChar char="•"/>
            </a:pPr>
            <a:r>
              <a:rPr lang="en-US" sz="1500" b="1" dirty="0">
                <a:solidFill>
                  <a:schemeClr val="tx1"/>
                </a:solidFill>
              </a:rPr>
              <a:t>tmp_path</a:t>
            </a:r>
            <a:pPr indent="0" marL="0">
              <a:spcAft>
                <a:spcPts val="800"/>
              </a:spcAft>
              <a:buNone/>
            </a:pPr>
            <a:r>
              <a:rPr lang="en-US" sz="1500" dirty="0">
                <a:solidFill>
                  <a:schemeClr val="tx1"/>
                </a:solidFill>
              </a:rPr>
              <a:t> donne un dossier temporaire neuf à chaque test.</a:t>
            </a:r>
            <a:endParaRPr lang="en-US" sz="1500" dirty="0"/>
          </a:p>
          <a:p>
            <a:pPr marL="342900" indent="-342900">
              <a:spcAft>
                <a:spcPts val="800"/>
              </a:spcAft>
              <a:buSzPct val="100000"/>
              <a:buChar char="•"/>
            </a:pPr>
            <a:r>
              <a:rPr lang="en-US" sz="1500" b="1" dirty="0">
                <a:solidFill>
                  <a:schemeClr val="tx1"/>
                </a:solidFill>
              </a:rPr>
              <a:t>conftest.py</a:t>
            </a:r>
            <a:pPr indent="0" marL="0">
              <a:spcAft>
                <a:spcPts val="800"/>
              </a:spcAft>
              <a:buNone/>
            </a:pPr>
            <a:r>
              <a:rPr lang="en-US" sz="1500" dirty="0">
                <a:solidFill>
                  <a:schemeClr val="tx1"/>
                </a:solidFill>
              </a:rPr>
              <a:t> partage les fixtures entre fichiers de tests.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9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Les doubles de test</a:t>
            </a:r>
            <a:endParaRPr lang="en-US" sz="3000" dirty="0"/>
          </a:p>
        </p:txBody>
      </p:sp>
      <p:sp>
        <p:nvSpPr>
          <p:cNvPr id="3" name="double-0"/>
          <p:cNvSpPr/>
          <p:nvPr/>
        </p:nvSpPr>
        <p:spPr>
          <a:xfrm>
            <a:off x="457200" y="1280160"/>
            <a:ext cx="3566160" cy="1417320"/>
          </a:xfrm>
          <a:prstGeom prst="roundRect">
            <a:avLst>
              <a:gd name="adj" fmla="val 6452"/>
            </a:avLst>
          </a:prstGeom>
          <a:solidFill>
            <a:schemeClr val="bg2"/>
          </a:solidFill>
          <a:ln w="12700">
            <a:solidFill>
              <a:schemeClr val="bg2"/>
            </a:solidFill>
            <a:prstDash val="solid"/>
          </a:ln>
        </p:spPr>
      </p:sp>
      <p:sp>
        <p:nvSpPr>
          <p:cNvPr id="4" name="Text 2"/>
          <p:cNvSpPr txBox="1"/>
          <p:nvPr/>
        </p:nvSpPr>
        <p:spPr>
          <a:xfrm>
            <a:off x="640080" y="1417320"/>
            <a:ext cx="3200400" cy="365760"/>
          </a:xfrm>
          <a:prstGeom prst="rect">
            <a:avLst/>
          </a:prstGeom>
          <a:noFill/>
          <a:ln/>
        </p:spPr>
        <p:txBody>
          <a:bodyPr wrap="square" lIns="0" tIns="0" rIns="0" bIns="0" rtlCol="0" anchor="ctr"/>
          <a:lstStyle/>
          <a:p>
            <a:pPr indent="0" marL="0">
              <a:buNone/>
            </a:pPr>
            <a:r>
              <a:rPr lang="en-US" sz="1700" b="1" dirty="0">
                <a:solidFill>
                  <a:schemeClr val="accent4"/>
                </a:solidFill>
              </a:rPr>
              <a:t>Fake / stub</a:t>
            </a:r>
            <a:endParaRPr lang="en-US" sz="1700" dirty="0"/>
          </a:p>
        </p:txBody>
      </p:sp>
      <p:sp>
        <p:nvSpPr>
          <p:cNvPr id="5" name="Text 3"/>
          <p:cNvSpPr txBox="1"/>
          <p:nvPr/>
        </p:nvSpPr>
        <p:spPr>
          <a:xfrm>
            <a:off x="640080" y="1783080"/>
            <a:ext cx="3200400" cy="868680"/>
          </a:xfrm>
          <a:prstGeom prst="rect">
            <a:avLst/>
          </a:prstGeom>
          <a:noFill/>
          <a:ln/>
        </p:spPr>
        <p:txBody>
          <a:bodyPr wrap="square" lIns="0" tIns="0" rIns="0" bIns="0" rtlCol="0" anchor="t"/>
          <a:lstStyle/>
          <a:p>
            <a:pPr indent="0" marL="0">
              <a:buNone/>
            </a:pPr>
            <a:r>
              <a:rPr lang="en-US" sz="1400" dirty="0">
                <a:solidFill>
                  <a:schemeClr val="tx1"/>
                </a:solidFill>
              </a:rPr>
              <a:t>Une implémentation simplifiée qui renvoie des réponses prévues : une horloge fixe, un faux LLM, un faux serveur HTTP.</a:t>
            </a:r>
            <a:endParaRPr lang="en-US" sz="1400" dirty="0"/>
          </a:p>
        </p:txBody>
      </p:sp>
      <p:sp>
        <p:nvSpPr>
          <p:cNvPr id="6" name="double-1"/>
          <p:cNvSpPr/>
          <p:nvPr/>
        </p:nvSpPr>
        <p:spPr>
          <a:xfrm>
            <a:off x="457200" y="2880360"/>
            <a:ext cx="3566160" cy="1417320"/>
          </a:xfrm>
          <a:prstGeom prst="roundRect">
            <a:avLst>
              <a:gd name="adj" fmla="val 6452"/>
            </a:avLst>
          </a:prstGeom>
          <a:solidFill>
            <a:schemeClr val="bg2"/>
          </a:solidFill>
          <a:ln w="12700">
            <a:solidFill>
              <a:schemeClr val="bg2"/>
            </a:solidFill>
            <a:prstDash val="solid"/>
          </a:ln>
        </p:spPr>
      </p:sp>
      <p:sp>
        <p:nvSpPr>
          <p:cNvPr id="7" name="Text 5"/>
          <p:cNvSpPr txBox="1"/>
          <p:nvPr/>
        </p:nvSpPr>
        <p:spPr>
          <a:xfrm>
            <a:off x="640080" y="3017520"/>
            <a:ext cx="3200400" cy="365760"/>
          </a:xfrm>
          <a:prstGeom prst="rect">
            <a:avLst/>
          </a:prstGeom>
          <a:noFill/>
          <a:ln/>
        </p:spPr>
        <p:txBody>
          <a:bodyPr wrap="square" lIns="0" tIns="0" rIns="0" bIns="0" rtlCol="0" anchor="ctr"/>
          <a:lstStyle/>
          <a:p>
            <a:pPr indent="0" marL="0">
              <a:buNone/>
            </a:pPr>
            <a:r>
              <a:rPr lang="en-US" sz="1700" b="1" dirty="0">
                <a:solidFill>
                  <a:schemeClr val="accent4"/>
                </a:solidFill>
              </a:rPr>
              <a:t>Mock</a:t>
            </a:r>
            <a:endParaRPr lang="en-US" sz="1700" dirty="0"/>
          </a:p>
        </p:txBody>
      </p:sp>
      <p:sp>
        <p:nvSpPr>
          <p:cNvPr id="8" name="Text 6"/>
          <p:cNvSpPr txBox="1"/>
          <p:nvPr/>
        </p:nvSpPr>
        <p:spPr>
          <a:xfrm>
            <a:off x="640080" y="3383280"/>
            <a:ext cx="3200400" cy="868680"/>
          </a:xfrm>
          <a:prstGeom prst="rect">
            <a:avLst/>
          </a:prstGeom>
          <a:noFill/>
          <a:ln/>
        </p:spPr>
        <p:txBody>
          <a:bodyPr wrap="square" lIns="0" tIns="0" rIns="0" bIns="0" rtlCol="0" anchor="t"/>
          <a:lstStyle/>
          <a:p>
            <a:pPr indent="0" marL="0">
              <a:buNone/>
            </a:pPr>
            <a:r>
              <a:rPr lang="en-US" sz="1400" dirty="0">
                <a:solidFill>
                  <a:schemeClr val="tx1"/>
                </a:solidFill>
              </a:rPr>
              <a:t>Un objet qui enregistre la façon dont on l'appelle, pour vérifier ensuite les arguments (mocker.Mock()).</a:t>
            </a:r>
            <a:endParaRPr lang="en-US" sz="1400" dirty="0"/>
          </a:p>
        </p:txBody>
      </p:sp>
      <p:sp>
        <p:nvSpPr>
          <p:cNvPr id="9" name="code-horloge"/>
          <p:cNvSpPr/>
          <p:nvPr/>
        </p:nvSpPr>
        <p:spPr>
          <a:xfrm>
            <a:off x="4297680" y="1280160"/>
            <a:ext cx="4389120" cy="3017520"/>
          </a:xfrm>
          <a:prstGeom prst="roundRect">
            <a:avLst>
              <a:gd name="adj" fmla="val 2424"/>
            </a:avLst>
          </a:prstGeom>
          <a:solidFill>
            <a:schemeClr val="tx1"/>
          </a:solidFill>
          <a:ln w="12700">
            <a:solidFill>
              <a:schemeClr val="tx1"/>
            </a:solidFill>
            <a:prstDash val="solid"/>
          </a:ln>
        </p:spPr>
      </p:sp>
      <p:sp>
        <p:nvSpPr>
          <p:cNvPr id="10" name="code-horloge-texte"/>
          <p:cNvSpPr txBox="1"/>
          <p:nvPr/>
        </p:nvSpPr>
        <p:spPr>
          <a:xfrm>
            <a:off x="4434840" y="1389888"/>
            <a:ext cx="4114800" cy="2798064"/>
          </a:xfrm>
          <a:prstGeom prst="rect">
            <a:avLst/>
          </a:prstGeom>
          <a:noFill/>
          <a:ln/>
        </p:spPr>
        <p:txBody>
          <a:bodyPr wrap="square" lIns="0" tIns="0" rIns="0" bIns="0" rtlCol="0" anchor="t"/>
          <a:lstStyle/>
          <a:p>
            <a:pPr indent="0" marL="0">
              <a:buNone/>
            </a:pPr>
            <a:r>
              <a:rPr lang="en-US" sz="1100" dirty="0">
                <a:solidFill>
                  <a:schemeClr val="accent6"/>
                </a:solidFill>
                <a:latin typeface="Courier New" pitchFamily="34" charset="0"/>
                <a:ea typeface="Courier New" pitchFamily="34" charset="-122"/>
                <a:cs typeface="Courier New" pitchFamily="34" charset="-120"/>
              </a:rPr>
              <a:t># L'horloge est injectée : le test</a:t>
            </a:r>
            <a:endParaRPr lang="en-US" sz="1100" dirty="0"/>
          </a:p>
          <a:p>
            <a:pPr indent="0" marL="0">
              <a:buNone/>
            </a:pPr>
            <a:r>
              <a:rPr lang="en-US" sz="1100" dirty="0">
                <a:solidFill>
                  <a:schemeClr val="accent6"/>
                </a:solidFill>
                <a:latin typeface="Courier New" pitchFamily="34" charset="0"/>
                <a:ea typeface="Courier New" pitchFamily="34" charset="-122"/>
                <a:cs typeface="Courier New" pitchFamily="34" charset="-120"/>
              </a:rPr>
              <a:t># fixe la date au lieu de la subir</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def horloge_fixe():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return datetime(2026, 10, 22, 14, 5)</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def test_T6_date():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assert now_text(horloge_fixe) ==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"Nous sommes le jeudi 22 octobre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"2026, il est 14h05."</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9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Tests asynchrones et marqueurs</a:t>
            </a:r>
            <a:endParaRPr lang="en-US" sz="3000" dirty="0"/>
          </a:p>
        </p:txBody>
      </p:sp>
      <p:sp>
        <p:nvSpPr>
          <p:cNvPr id="3" name="code-async"/>
          <p:cNvSpPr/>
          <p:nvPr/>
        </p:nvSpPr>
        <p:spPr>
          <a:xfrm>
            <a:off x="457200" y="1280160"/>
            <a:ext cx="4937760" cy="3108960"/>
          </a:xfrm>
          <a:prstGeom prst="roundRect">
            <a:avLst>
              <a:gd name="adj" fmla="val 2353"/>
            </a:avLst>
          </a:prstGeom>
          <a:solidFill>
            <a:schemeClr val="tx1"/>
          </a:solidFill>
          <a:ln w="12700">
            <a:solidFill>
              <a:schemeClr val="tx1"/>
            </a:solidFill>
            <a:prstDash val="solid"/>
          </a:ln>
        </p:spPr>
      </p:sp>
      <p:sp>
        <p:nvSpPr>
          <p:cNvPr id="4" name="code-async-texte"/>
          <p:cNvSpPr txBox="1"/>
          <p:nvPr/>
        </p:nvSpPr>
        <p:spPr>
          <a:xfrm>
            <a:off x="594360" y="1389888"/>
            <a:ext cx="4663440" cy="2889504"/>
          </a:xfrm>
          <a:prstGeom prst="rect">
            <a:avLst/>
          </a:prstGeom>
          <a:noFill/>
          <a:ln/>
        </p:spPr>
        <p:txBody>
          <a:bodyPr wrap="square" lIns="0" tIns="0" rIns="0" bIns="0" rtlCol="0" anchor="t"/>
          <a:lstStyle/>
          <a:p>
            <a:pPr indent="0" marL="0">
              <a:buNone/>
            </a:pPr>
            <a:r>
              <a:rPr lang="en-US" sz="1200" dirty="0">
                <a:solidFill>
                  <a:schemeClr val="accent6"/>
                </a:solidFill>
                <a:latin typeface="Courier New" pitchFamily="34" charset="0"/>
                <a:ea typeface="Courier New" pitchFamily="34" charset="-122"/>
                <a:cs typeface="Courier New" pitchFamily="34" charset="-120"/>
              </a:rPr>
              <a:t># pytest-asyncio en mode auto</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async def test_S1_catalogue(mcp_session):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res = await mcp_session.list_tools()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assert len(res.tools) == 5</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accent3"/>
                </a:solidFill>
                <a:latin typeface="Courier New" pitchFamily="34" charset="0"/>
                <a:ea typeface="Courier New" pitchFamily="34" charset="-122"/>
                <a:cs typeface="Courier New" pitchFamily="34" charset="-120"/>
              </a:rPr>
              <a:t>@pytest.mark.groq</a:t>
            </a:r>
            <a:endParaRPr lang="en-US" sz="1200" dirty="0"/>
          </a:p>
          <a:p>
            <a:pPr indent="0" marL="0">
              <a:buNone/>
            </a:pPr>
            <a:r>
              <a:rPr lang="en-US" sz="1200" dirty="0">
                <a:solidFill>
                  <a:schemeClr val="accent3"/>
                </a:solidFill>
                <a:latin typeface="Courier New" pitchFamily="34" charset="0"/>
                <a:ea typeface="Courier New" pitchFamily="34" charset="-122"/>
                <a:cs typeface="Courier New" pitchFamily="34" charset="-120"/>
              </a:rPr>
              <a:t>@pytest.mark.skipif(</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"GROQ_API_KEY" not in os.environ,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reason="clé Groq absente")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def test_E3_vrai_modele(tmp_path): ...</a:t>
            </a:r>
            <a:endParaRPr lang="en-US" sz="1200" dirty="0"/>
          </a:p>
        </p:txBody>
      </p:sp>
      <p:sp>
        <p:nvSpPr>
          <p:cNvPr id="5" name="Text 3"/>
          <p:cNvSpPr txBox="1"/>
          <p:nvPr/>
        </p:nvSpPr>
        <p:spPr>
          <a:xfrm>
            <a:off x="5760720" y="1280160"/>
            <a:ext cx="2926080" cy="310896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chemeClr val="tx1"/>
                </a:solidFill>
              </a:rPr>
              <a:t>async def :</a:t>
            </a:r>
            <a:pPr indent="0" marL="0">
              <a:spcAft>
                <a:spcPts val="800"/>
              </a:spcAft>
              <a:buNone/>
            </a:pPr>
            <a:r>
              <a:rPr lang="en-US" sz="1400" dirty="0">
                <a:solidFill>
                  <a:schemeClr val="tx1"/>
                </a:solidFill>
              </a:rPr>
              <a:t> le serveur MCP et l'agent sont asynchrones.</a:t>
            </a:r>
            <a:endParaRPr lang="en-US" sz="1400" dirty="0"/>
          </a:p>
          <a:p>
            <a:pPr marL="342900" indent="-342900">
              <a:spcAft>
                <a:spcPts val="800"/>
              </a:spcAft>
              <a:buSzPct val="100000"/>
              <a:buChar char="•"/>
            </a:pPr>
            <a:r>
              <a:rPr lang="en-US" sz="1400" b="1" dirty="0">
                <a:solidFill>
                  <a:schemeClr val="tx1"/>
                </a:solidFill>
              </a:rPr>
              <a:t>-m e2e</a:t>
            </a:r>
            <a:pPr indent="0" marL="0">
              <a:spcAft>
                <a:spcPts val="800"/>
              </a:spcAft>
              <a:buNone/>
            </a:pPr>
            <a:r>
              <a:rPr lang="en-US" sz="1400" dirty="0">
                <a:solidFill>
                  <a:schemeClr val="tx1"/>
                </a:solidFill>
              </a:rPr>
              <a:t> lance seulement les tests marqués e2e.</a:t>
            </a:r>
            <a:endParaRPr lang="en-US" sz="1400" dirty="0"/>
          </a:p>
          <a:p>
            <a:pPr marL="342900" indent="-342900">
              <a:spcAft>
                <a:spcPts val="800"/>
              </a:spcAft>
              <a:buSzPct val="100000"/>
              <a:buChar char="•"/>
            </a:pPr>
            <a:r>
              <a:rPr lang="en-US" sz="1400" b="1" dirty="0">
                <a:solidFill>
                  <a:schemeClr val="tx1"/>
                </a:solidFill>
              </a:rPr>
              <a:t>-m "not groq"</a:t>
            </a:r>
            <a:pPr indent="0" marL="0">
              <a:spcAft>
                <a:spcPts val="800"/>
              </a:spcAft>
              <a:buNone/>
            </a:pPr>
            <a:r>
              <a:rPr lang="en-US" sz="1400" dirty="0">
                <a:solidFill>
                  <a:schemeClr val="tx1"/>
                </a:solidFill>
              </a:rPr>
              <a:t> exclut les tests qui coûtent un appel réseau.</a:t>
            </a:r>
            <a:endParaRPr lang="en-US" sz="1400" dirty="0"/>
          </a:p>
          <a:p>
            <a:pPr marL="342900" indent="-342900">
              <a:spcAft>
                <a:spcPts val="800"/>
              </a:spcAft>
              <a:buSzPct val="100000"/>
              <a:buChar char="•"/>
            </a:pPr>
            <a:r>
              <a:rPr lang="en-US" sz="1400" b="1" dirty="0">
                <a:solidFill>
                  <a:schemeClr val="tx1"/>
                </a:solidFill>
              </a:rPr>
              <a:t>--cov=mini_jarvis</a:t>
            </a:r>
            <a:pPr indent="0" marL="0">
              <a:spcAft>
                <a:spcPts val="800"/>
              </a:spcAft>
              <a:buNone/>
            </a:pPr>
            <a:r>
              <a:rPr lang="en-US" sz="1400" dirty="0">
                <a:solidFill>
                  <a:schemeClr val="tx1"/>
                </a:solidFill>
              </a:rPr>
              <a:t> mesure la couverture.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9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1280160"/>
            <a:ext cx="8046720" cy="1371600"/>
          </a:xfrm>
          <a:prstGeom prst="rect">
            <a:avLst/>
          </a:prstGeom>
          <a:noFill/>
          <a:ln/>
        </p:spPr>
        <p:txBody>
          <a:bodyPr wrap="square" rtlCol="0" anchor="b"/>
          <a:lstStyle/>
          <a:p>
            <a:pPr algn="l" indent="0" marL="0">
              <a:buNone/>
            </a:pPr>
            <a:r>
              <a:rPr lang="en-US" sz="3600" b="1" dirty="0">
                <a:solidFill>
                  <a:schemeClr val="bg1"/>
                </a:solidFill>
              </a:rPr>
              <a:t>Le développement piloté par les tests</a:t>
            </a:r>
            <a:endParaRPr lang="en-US" sz="3600" dirty="0"/>
          </a:p>
        </p:txBody>
      </p:sp>
      <p:sp>
        <p:nvSpPr>
          <p:cNvPr id="3" name="Text 0"/>
          <p:cNvSpPr/>
          <p:nvPr>
            <p:ph idx="101" type="body" hasCustomPrompt="1"/>
          </p:nvPr>
        </p:nvSpPr>
        <p:spPr>
          <a:xfrm>
            <a:off x="548640" y="2788920"/>
            <a:ext cx="8046720" cy="731520"/>
          </a:xfrm>
          <a:prstGeom prst="rect">
            <a:avLst/>
          </a:prstGeom>
          <a:noFill/>
          <a:ln/>
        </p:spPr>
        <p:txBody>
          <a:bodyPr wrap="square" rtlCol="0" anchor="t"/>
          <a:lstStyle/>
          <a:p>
            <a:pPr algn="l" indent="0" marL="0">
              <a:buNone/>
            </a:pPr>
            <a:r>
              <a:rPr lang="en-US" sz="1800" dirty="0">
                <a:solidFill>
                  <a:schemeClr val="accent6"/>
                </a:solidFill>
              </a:rPr>
              <a:t>Test-Driven Development</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Le cycle : rouge, vert, refactor</a:t>
            </a:r>
            <a:endParaRPr lang="en-US" sz="3000" dirty="0"/>
          </a:p>
        </p:txBody>
      </p:sp>
      <p:sp>
        <p:nvSpPr>
          <p:cNvPr id="3" name="phase-ROUGE"/>
          <p:cNvSpPr/>
          <p:nvPr/>
        </p:nvSpPr>
        <p:spPr>
          <a:xfrm>
            <a:off x="822960" y="1280160"/>
            <a:ext cx="1371600" cy="1371600"/>
          </a:xfrm>
          <a:prstGeom prst="ellipse">
            <a:avLst/>
          </a:prstGeom>
          <a:solidFill>
            <a:schemeClr val="accent2"/>
          </a:solidFill>
          <a:ln w="12700">
            <a:solidFill>
              <a:schemeClr val="accent2"/>
            </a:solidFill>
            <a:prstDash val="solid"/>
          </a:ln>
        </p:spPr>
      </p:sp>
      <p:sp>
        <p:nvSpPr>
          <p:cNvPr id="4" name="Text 2"/>
          <p:cNvSpPr txBox="1"/>
          <p:nvPr/>
        </p:nvSpPr>
        <p:spPr>
          <a:xfrm>
            <a:off x="822960" y="1280160"/>
            <a:ext cx="1371600" cy="1371600"/>
          </a:xfrm>
          <a:prstGeom prst="rect">
            <a:avLst/>
          </a:prstGeom>
          <a:noFill/>
          <a:ln/>
        </p:spPr>
        <p:txBody>
          <a:bodyPr wrap="square" lIns="0" tIns="0" rIns="0" bIns="0" rtlCol="0" anchor="ctr"/>
          <a:lstStyle/>
          <a:p>
            <a:pPr algn="ctr" indent="0" marL="0">
              <a:buNone/>
            </a:pPr>
            <a:r>
              <a:rPr lang="en-US" sz="1600" b="1" dirty="0">
                <a:solidFill>
                  <a:schemeClr val="bg1"/>
                </a:solidFill>
              </a:rPr>
              <a:t>ROUGE</a:t>
            </a:r>
            <a:endParaRPr lang="en-US" sz="1600" dirty="0"/>
          </a:p>
        </p:txBody>
      </p:sp>
      <p:sp>
        <p:nvSpPr>
          <p:cNvPr id="5" name="phase-VERT"/>
          <p:cNvSpPr/>
          <p:nvPr/>
        </p:nvSpPr>
        <p:spPr>
          <a:xfrm>
            <a:off x="2834640" y="1280160"/>
            <a:ext cx="1371600" cy="1371600"/>
          </a:xfrm>
          <a:prstGeom prst="ellipse">
            <a:avLst/>
          </a:prstGeom>
          <a:solidFill>
            <a:schemeClr val="accent1"/>
          </a:solidFill>
          <a:ln w="12700">
            <a:solidFill>
              <a:schemeClr val="accent1"/>
            </a:solidFill>
            <a:prstDash val="solid"/>
          </a:ln>
        </p:spPr>
      </p:sp>
      <p:sp>
        <p:nvSpPr>
          <p:cNvPr id="6" name="Text 4"/>
          <p:cNvSpPr txBox="1"/>
          <p:nvPr/>
        </p:nvSpPr>
        <p:spPr>
          <a:xfrm>
            <a:off x="2834640" y="1280160"/>
            <a:ext cx="1371600" cy="1371600"/>
          </a:xfrm>
          <a:prstGeom prst="rect">
            <a:avLst/>
          </a:prstGeom>
          <a:noFill/>
          <a:ln/>
        </p:spPr>
        <p:txBody>
          <a:bodyPr wrap="square" lIns="0" tIns="0" rIns="0" bIns="0" rtlCol="0" anchor="ctr"/>
          <a:lstStyle/>
          <a:p>
            <a:pPr algn="ctr" indent="0" marL="0">
              <a:buNone/>
            </a:pPr>
            <a:r>
              <a:rPr lang="en-US" sz="1600" b="1" dirty="0">
                <a:solidFill>
                  <a:schemeClr val="bg1"/>
                </a:solidFill>
              </a:rPr>
              <a:t>VERT</a:t>
            </a:r>
            <a:endParaRPr lang="en-US" sz="1600" dirty="0"/>
          </a:p>
        </p:txBody>
      </p:sp>
      <p:sp>
        <p:nvSpPr>
          <p:cNvPr id="7" name="phase-REFACTOR"/>
          <p:cNvSpPr/>
          <p:nvPr/>
        </p:nvSpPr>
        <p:spPr>
          <a:xfrm>
            <a:off x="1828800" y="2971800"/>
            <a:ext cx="1371600" cy="1371600"/>
          </a:xfrm>
          <a:prstGeom prst="ellipse">
            <a:avLst/>
          </a:prstGeom>
          <a:solidFill>
            <a:schemeClr val="accent3"/>
          </a:solidFill>
          <a:ln w="12700">
            <a:solidFill>
              <a:schemeClr val="accent3"/>
            </a:solidFill>
            <a:prstDash val="solid"/>
          </a:ln>
        </p:spPr>
      </p:sp>
      <p:sp>
        <p:nvSpPr>
          <p:cNvPr id="8" name="Text 6"/>
          <p:cNvSpPr txBox="1"/>
          <p:nvPr/>
        </p:nvSpPr>
        <p:spPr>
          <a:xfrm>
            <a:off x="1828800" y="2971800"/>
            <a:ext cx="1371600" cy="1371600"/>
          </a:xfrm>
          <a:prstGeom prst="rect">
            <a:avLst/>
          </a:prstGeom>
          <a:noFill/>
          <a:ln/>
        </p:spPr>
        <p:txBody>
          <a:bodyPr wrap="square" lIns="0" tIns="0" rIns="0" bIns="0" rtlCol="0" anchor="ctr"/>
          <a:lstStyle/>
          <a:p>
            <a:pPr algn="ctr" indent="0" marL="0">
              <a:buNone/>
            </a:pPr>
            <a:r>
              <a:rPr lang="en-US" sz="1400" b="1" dirty="0">
                <a:solidFill>
                  <a:schemeClr val="bg1"/>
                </a:solidFill>
              </a:rPr>
              <a:t>REFACTOR</a:t>
            </a:r>
            <a:endParaRPr lang="en-US" sz="1400" dirty="0"/>
          </a:p>
        </p:txBody>
      </p:sp>
      <p:sp>
        <p:nvSpPr>
          <p:cNvPr id="9" name="Shape 7"/>
          <p:cNvSpPr/>
          <p:nvPr/>
        </p:nvSpPr>
        <p:spPr>
          <a:xfrm>
            <a:off x="2286000" y="1965960"/>
            <a:ext cx="457200" cy="0"/>
          </a:xfrm>
          <a:prstGeom prst="line">
            <a:avLst/>
          </a:prstGeom>
          <a:noFill/>
          <a:ln w="25400">
            <a:solidFill>
              <a:schemeClr val="tx2"/>
            </a:solidFill>
            <a:prstDash val="solid"/>
            <a:tailEnd type="triangle"/>
          </a:ln>
        </p:spPr>
      </p:sp>
      <p:sp>
        <p:nvSpPr>
          <p:cNvPr id="10" name="Shape 8"/>
          <p:cNvSpPr/>
          <p:nvPr/>
        </p:nvSpPr>
        <p:spPr>
          <a:xfrm flipH="1">
            <a:off x="3063240" y="2697480"/>
            <a:ext cx="320040" cy="411480"/>
          </a:xfrm>
          <a:prstGeom prst="line">
            <a:avLst/>
          </a:prstGeom>
          <a:noFill/>
          <a:ln w="25400">
            <a:solidFill>
              <a:schemeClr val="tx2"/>
            </a:solidFill>
            <a:prstDash val="solid"/>
            <a:tailEnd type="triangle"/>
          </a:ln>
        </p:spPr>
      </p:sp>
      <p:sp>
        <p:nvSpPr>
          <p:cNvPr id="11" name="Shape 9"/>
          <p:cNvSpPr/>
          <p:nvPr/>
        </p:nvSpPr>
        <p:spPr>
          <a:xfrm>
            <a:off x="1600200" y="2697480"/>
            <a:ext cx="365760" cy="411480"/>
          </a:xfrm>
          <a:prstGeom prst="line">
            <a:avLst/>
          </a:prstGeom>
          <a:noFill/>
          <a:ln w="25400">
            <a:solidFill>
              <a:schemeClr val="tx2"/>
            </a:solidFill>
            <a:prstDash val="solid"/>
            <a:headEnd type="triangle"/>
          </a:ln>
        </p:spPr>
      </p:sp>
      <p:sp>
        <p:nvSpPr>
          <p:cNvPr id="12" name="Shape 10"/>
          <p:cNvSpPr/>
          <p:nvPr/>
        </p:nvSpPr>
        <p:spPr>
          <a:xfrm>
            <a:off x="4754880" y="1307592"/>
            <a:ext cx="256032" cy="256032"/>
          </a:xfrm>
          <a:prstGeom prst="ellipse">
            <a:avLst/>
          </a:prstGeom>
          <a:solidFill>
            <a:schemeClr val="accent2"/>
          </a:solidFill>
          <a:ln w="12700">
            <a:solidFill>
              <a:schemeClr val="accent2"/>
            </a:solidFill>
            <a:prstDash val="solid"/>
          </a:ln>
        </p:spPr>
      </p:sp>
      <p:sp>
        <p:nvSpPr>
          <p:cNvPr id="13" name="Text 11"/>
          <p:cNvSpPr txBox="1"/>
          <p:nvPr/>
        </p:nvSpPr>
        <p:spPr>
          <a:xfrm>
            <a:off x="5166360" y="1234440"/>
            <a:ext cx="3520440" cy="960120"/>
          </a:xfrm>
          <a:prstGeom prst="rect">
            <a:avLst/>
          </a:prstGeom>
          <a:noFill/>
          <a:ln/>
        </p:spPr>
        <p:txBody>
          <a:bodyPr wrap="square" lIns="0" tIns="0" rIns="0" bIns="0" rtlCol="0" anchor="t"/>
          <a:lstStyle/>
          <a:p>
            <a:pPr indent="0" marL="0">
              <a:buNone/>
            </a:pPr>
            <a:r>
              <a:rPr lang="en-US" sz="1400" b="1" dirty="0">
                <a:solidFill>
                  <a:schemeClr val="tx1"/>
                </a:solidFill>
              </a:rPr>
              <a:t>Rouge</a:t>
            </a:r>
            <a:endParaRPr lang="en-US" sz="1400" dirty="0"/>
          </a:p>
          <a:p>
            <a:pPr indent="0" marL="0">
              <a:buNone/>
            </a:pPr>
            <a:r>
              <a:rPr lang="en-US" sz="1400" dirty="0">
                <a:solidFill>
                  <a:schemeClr val="tx2"/>
                </a:solidFill>
              </a:rPr>
              <a:t>Écrire UN test pour le prochain comportement. Le lancer et le voir échouer pour la bonne raison.</a:t>
            </a:r>
            <a:endParaRPr lang="en-US" sz="1400" dirty="0"/>
          </a:p>
        </p:txBody>
      </p:sp>
      <p:sp>
        <p:nvSpPr>
          <p:cNvPr id="14" name="Shape 12"/>
          <p:cNvSpPr/>
          <p:nvPr/>
        </p:nvSpPr>
        <p:spPr>
          <a:xfrm>
            <a:off x="4754880" y="2386584"/>
            <a:ext cx="256032" cy="256032"/>
          </a:xfrm>
          <a:prstGeom prst="ellipse">
            <a:avLst/>
          </a:prstGeom>
          <a:solidFill>
            <a:schemeClr val="accent1"/>
          </a:solidFill>
          <a:ln w="12700">
            <a:solidFill>
              <a:schemeClr val="accent1"/>
            </a:solidFill>
            <a:prstDash val="solid"/>
          </a:ln>
        </p:spPr>
      </p:sp>
      <p:sp>
        <p:nvSpPr>
          <p:cNvPr id="15" name="Text 13"/>
          <p:cNvSpPr txBox="1"/>
          <p:nvPr/>
        </p:nvSpPr>
        <p:spPr>
          <a:xfrm>
            <a:off x="5166360" y="2313432"/>
            <a:ext cx="3520440" cy="960120"/>
          </a:xfrm>
          <a:prstGeom prst="rect">
            <a:avLst/>
          </a:prstGeom>
          <a:noFill/>
          <a:ln/>
        </p:spPr>
        <p:txBody>
          <a:bodyPr wrap="square" lIns="0" tIns="0" rIns="0" bIns="0" rtlCol="0" anchor="t"/>
          <a:lstStyle/>
          <a:p>
            <a:pPr indent="0" marL="0">
              <a:buNone/>
            </a:pPr>
            <a:r>
              <a:rPr lang="en-US" sz="1400" b="1" dirty="0">
                <a:solidFill>
                  <a:schemeClr val="tx1"/>
                </a:solidFill>
              </a:rPr>
              <a:t>Vert</a:t>
            </a:r>
            <a:endParaRPr lang="en-US" sz="1400" dirty="0"/>
          </a:p>
          <a:p>
            <a:pPr indent="0" marL="0">
              <a:buNone/>
            </a:pPr>
            <a:r>
              <a:rPr lang="en-US" sz="1400" dirty="0">
                <a:solidFill>
                  <a:schemeClr val="tx2"/>
                </a:solidFill>
              </a:rPr>
              <a:t>Écrire le code le plus simple qui fait passer ce test. Même naïf, même « triché ».</a:t>
            </a:r>
            <a:endParaRPr lang="en-US" sz="1400" dirty="0"/>
          </a:p>
        </p:txBody>
      </p:sp>
      <p:sp>
        <p:nvSpPr>
          <p:cNvPr id="16" name="Shape 14"/>
          <p:cNvSpPr/>
          <p:nvPr/>
        </p:nvSpPr>
        <p:spPr>
          <a:xfrm>
            <a:off x="4754880" y="3465576"/>
            <a:ext cx="256032" cy="256032"/>
          </a:xfrm>
          <a:prstGeom prst="ellipse">
            <a:avLst/>
          </a:prstGeom>
          <a:solidFill>
            <a:schemeClr val="accent3"/>
          </a:solidFill>
          <a:ln w="12700">
            <a:solidFill>
              <a:schemeClr val="accent3"/>
            </a:solidFill>
            <a:prstDash val="solid"/>
          </a:ln>
        </p:spPr>
      </p:sp>
      <p:sp>
        <p:nvSpPr>
          <p:cNvPr id="17" name="Text 15"/>
          <p:cNvSpPr txBox="1"/>
          <p:nvPr/>
        </p:nvSpPr>
        <p:spPr>
          <a:xfrm>
            <a:off x="5166360" y="3392424"/>
            <a:ext cx="3520440" cy="960120"/>
          </a:xfrm>
          <a:prstGeom prst="rect">
            <a:avLst/>
          </a:prstGeom>
          <a:noFill/>
          <a:ln/>
        </p:spPr>
        <p:txBody>
          <a:bodyPr wrap="square" lIns="0" tIns="0" rIns="0" bIns="0" rtlCol="0" anchor="t"/>
          <a:lstStyle/>
          <a:p>
            <a:pPr indent="0" marL="0">
              <a:buNone/>
            </a:pPr>
            <a:r>
              <a:rPr lang="en-US" sz="1400" b="1" dirty="0">
                <a:solidFill>
                  <a:schemeClr val="tx1"/>
                </a:solidFill>
              </a:rPr>
              <a:t>Refactor</a:t>
            </a:r>
            <a:endParaRPr lang="en-US" sz="1400" dirty="0"/>
          </a:p>
          <a:p>
            <a:pPr indent="0" marL="0">
              <a:buNone/>
            </a:pPr>
            <a:r>
              <a:rPr lang="en-US" sz="1400" dirty="0">
                <a:solidFill>
                  <a:schemeClr val="tx2"/>
                </a:solidFill>
              </a:rPr>
              <a:t>Tous les tests sont verts : améliorer le code (noms, doublons, structure) sans changer son comportement.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9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Exemple : l'exigence T1 en trois temps</a:t>
            </a:r>
            <a:endParaRPr lang="en-US" sz="3000" dirty="0"/>
          </a:p>
        </p:txBody>
      </p:sp>
      <p:sp>
        <p:nvSpPr>
          <p:cNvPr id="3" name="Shape 1"/>
          <p:cNvSpPr/>
          <p:nvPr/>
        </p:nvSpPr>
        <p:spPr>
          <a:xfrm>
            <a:off x="457200" y="1188720"/>
            <a:ext cx="1554480" cy="365760"/>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457200" y="1188720"/>
            <a:ext cx="1554480" cy="365760"/>
          </a:xfrm>
          <a:prstGeom prst="rect">
            <a:avLst/>
          </a:prstGeom>
          <a:noFill/>
          <a:ln/>
        </p:spPr>
        <p:txBody>
          <a:bodyPr wrap="square" lIns="0" tIns="0" rIns="0" bIns="0" rtlCol="0" anchor="ctr"/>
          <a:lstStyle/>
          <a:p>
            <a:pPr algn="ctr" indent="0" marL="0">
              <a:buNone/>
            </a:pPr>
            <a:r>
              <a:rPr lang="en-US" sz="1300" b="1" dirty="0">
                <a:solidFill>
                  <a:schemeClr val="bg1"/>
                </a:solidFill>
              </a:rPr>
              <a:t>1 · ROUGE</a:t>
            </a:r>
            <a:endParaRPr lang="en-US" sz="1300" dirty="0"/>
          </a:p>
        </p:txBody>
      </p:sp>
      <p:sp>
        <p:nvSpPr>
          <p:cNvPr id="5" name="code-demo-0"/>
          <p:cNvSpPr/>
          <p:nvPr/>
        </p:nvSpPr>
        <p:spPr>
          <a:xfrm>
            <a:off x="457200" y="1691640"/>
            <a:ext cx="2606040" cy="2057400"/>
          </a:xfrm>
          <a:prstGeom prst="roundRect">
            <a:avLst>
              <a:gd name="adj" fmla="val 3556"/>
            </a:avLst>
          </a:prstGeom>
          <a:solidFill>
            <a:schemeClr val="tx1"/>
          </a:solidFill>
          <a:ln w="12700">
            <a:solidFill>
              <a:schemeClr val="tx1"/>
            </a:solidFill>
            <a:prstDash val="solid"/>
          </a:ln>
        </p:spPr>
      </p:sp>
      <p:sp>
        <p:nvSpPr>
          <p:cNvPr id="6" name="code-demo-0-texte"/>
          <p:cNvSpPr txBox="1"/>
          <p:nvPr/>
        </p:nvSpPr>
        <p:spPr>
          <a:xfrm>
            <a:off x="594360" y="1801368"/>
            <a:ext cx="2331720" cy="1837944"/>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def test_T1_addition():</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resultat = calculate(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2, "+", 3)</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assert resultat == 5.0</a:t>
            </a:r>
            <a:endParaRPr lang="en-US" sz="1100" dirty="0"/>
          </a:p>
        </p:txBody>
      </p:sp>
      <p:sp>
        <p:nvSpPr>
          <p:cNvPr id="7" name="Text 5"/>
          <p:cNvSpPr txBox="1"/>
          <p:nvPr/>
        </p:nvSpPr>
        <p:spPr>
          <a:xfrm>
            <a:off x="457200" y="3840480"/>
            <a:ext cx="2606040" cy="685800"/>
          </a:xfrm>
          <a:prstGeom prst="rect">
            <a:avLst/>
          </a:prstGeom>
          <a:noFill/>
          <a:ln/>
        </p:spPr>
        <p:txBody>
          <a:bodyPr wrap="square" lIns="0" tIns="0" rIns="0" bIns="0" rtlCol="0" anchor="t"/>
          <a:lstStyle/>
          <a:p>
            <a:pPr indent="0" marL="0">
              <a:buNone/>
            </a:pPr>
            <a:r>
              <a:rPr lang="en-US" sz="1300" i="1" dirty="0">
                <a:solidFill>
                  <a:schemeClr val="tx2"/>
                </a:solidFill>
              </a:rPr>
              <a:t>Échec : calculate n'existe pas.</a:t>
            </a:r>
            <a:endParaRPr lang="en-US" sz="1300" dirty="0"/>
          </a:p>
        </p:txBody>
      </p:sp>
      <p:sp>
        <p:nvSpPr>
          <p:cNvPr id="8" name="Shape 6"/>
          <p:cNvSpPr/>
          <p:nvPr/>
        </p:nvSpPr>
        <p:spPr>
          <a:xfrm>
            <a:off x="3246120" y="1188720"/>
            <a:ext cx="1554480" cy="365760"/>
          </a:xfrm>
          <a:prstGeom prst="roundRect">
            <a:avLst>
              <a:gd name="adj" fmla="val 50000"/>
            </a:avLst>
          </a:prstGeom>
          <a:solidFill>
            <a:schemeClr val="accent1"/>
          </a:solidFill>
          <a:ln w="12700">
            <a:solidFill>
              <a:schemeClr val="accent1"/>
            </a:solidFill>
            <a:prstDash val="solid"/>
          </a:ln>
        </p:spPr>
      </p:sp>
      <p:sp>
        <p:nvSpPr>
          <p:cNvPr id="9" name="Text 7"/>
          <p:cNvSpPr txBox="1"/>
          <p:nvPr/>
        </p:nvSpPr>
        <p:spPr>
          <a:xfrm>
            <a:off x="3246120" y="1188720"/>
            <a:ext cx="1554480" cy="365760"/>
          </a:xfrm>
          <a:prstGeom prst="rect">
            <a:avLst/>
          </a:prstGeom>
          <a:noFill/>
          <a:ln/>
        </p:spPr>
        <p:txBody>
          <a:bodyPr wrap="square" lIns="0" tIns="0" rIns="0" bIns="0" rtlCol="0" anchor="ctr"/>
          <a:lstStyle/>
          <a:p>
            <a:pPr algn="ctr" indent="0" marL="0">
              <a:buNone/>
            </a:pPr>
            <a:r>
              <a:rPr lang="en-US" sz="1300" b="1" dirty="0">
                <a:solidFill>
                  <a:schemeClr val="bg1"/>
                </a:solidFill>
              </a:rPr>
              <a:t>2 · VERT</a:t>
            </a:r>
            <a:endParaRPr lang="en-US" sz="1300" dirty="0"/>
          </a:p>
        </p:txBody>
      </p:sp>
      <p:sp>
        <p:nvSpPr>
          <p:cNvPr id="10" name="code-demo-1"/>
          <p:cNvSpPr/>
          <p:nvPr/>
        </p:nvSpPr>
        <p:spPr>
          <a:xfrm>
            <a:off x="3246120" y="1691640"/>
            <a:ext cx="2606040" cy="2057400"/>
          </a:xfrm>
          <a:prstGeom prst="roundRect">
            <a:avLst>
              <a:gd name="adj" fmla="val 3556"/>
            </a:avLst>
          </a:prstGeom>
          <a:solidFill>
            <a:schemeClr val="tx1"/>
          </a:solidFill>
          <a:ln w="12700">
            <a:solidFill>
              <a:schemeClr val="tx1"/>
            </a:solidFill>
            <a:prstDash val="solid"/>
          </a:ln>
        </p:spPr>
      </p:sp>
      <p:sp>
        <p:nvSpPr>
          <p:cNvPr id="11" name="code-demo-1-texte"/>
          <p:cNvSpPr txBox="1"/>
          <p:nvPr/>
        </p:nvSpPr>
        <p:spPr>
          <a:xfrm>
            <a:off x="3383280" y="1801368"/>
            <a:ext cx="2331720" cy="1837944"/>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def calculate(a, op, b):</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return a + b</a:t>
            </a:r>
            <a:endParaRPr lang="en-US" sz="1100" dirty="0"/>
          </a:p>
        </p:txBody>
      </p:sp>
      <p:sp>
        <p:nvSpPr>
          <p:cNvPr id="12" name="Text 10"/>
          <p:cNvSpPr txBox="1"/>
          <p:nvPr/>
        </p:nvSpPr>
        <p:spPr>
          <a:xfrm>
            <a:off x="3246120" y="3840480"/>
            <a:ext cx="2606040" cy="685800"/>
          </a:xfrm>
          <a:prstGeom prst="rect">
            <a:avLst/>
          </a:prstGeom>
          <a:noFill/>
          <a:ln/>
        </p:spPr>
        <p:txBody>
          <a:bodyPr wrap="square" lIns="0" tIns="0" rIns="0" bIns="0" rtlCol="0" anchor="t"/>
          <a:lstStyle/>
          <a:p>
            <a:pPr indent="0" marL="0">
              <a:buNone/>
            </a:pPr>
            <a:r>
              <a:rPr lang="en-US" sz="1300" i="1" dirty="0">
                <a:solidFill>
                  <a:schemeClr val="tx2"/>
                </a:solidFill>
              </a:rPr>
              <a:t>Naïf, mais le test passe. Les tests de -, * et / forceront la suite.</a:t>
            </a:r>
            <a:endParaRPr lang="en-US" sz="1300" dirty="0"/>
          </a:p>
        </p:txBody>
      </p:sp>
      <p:sp>
        <p:nvSpPr>
          <p:cNvPr id="13" name="Shape 11"/>
          <p:cNvSpPr/>
          <p:nvPr/>
        </p:nvSpPr>
        <p:spPr>
          <a:xfrm>
            <a:off x="6035040" y="1188720"/>
            <a:ext cx="1554480" cy="365760"/>
          </a:xfrm>
          <a:prstGeom prst="roundRect">
            <a:avLst>
              <a:gd name="adj" fmla="val 50000"/>
            </a:avLst>
          </a:prstGeom>
          <a:solidFill>
            <a:schemeClr val="accent3"/>
          </a:solidFill>
          <a:ln w="12700">
            <a:solidFill>
              <a:schemeClr val="accent3"/>
            </a:solidFill>
            <a:prstDash val="solid"/>
          </a:ln>
        </p:spPr>
      </p:sp>
      <p:sp>
        <p:nvSpPr>
          <p:cNvPr id="14" name="Text 12"/>
          <p:cNvSpPr txBox="1"/>
          <p:nvPr/>
        </p:nvSpPr>
        <p:spPr>
          <a:xfrm>
            <a:off x="6035040" y="1188720"/>
            <a:ext cx="1554480" cy="365760"/>
          </a:xfrm>
          <a:prstGeom prst="rect">
            <a:avLst/>
          </a:prstGeom>
          <a:noFill/>
          <a:ln/>
        </p:spPr>
        <p:txBody>
          <a:bodyPr wrap="square" lIns="0" tIns="0" rIns="0" bIns="0" rtlCol="0" anchor="ctr"/>
          <a:lstStyle/>
          <a:p>
            <a:pPr algn="ctr" indent="0" marL="0">
              <a:buNone/>
            </a:pPr>
            <a:r>
              <a:rPr lang="en-US" sz="1300" b="1" dirty="0">
                <a:solidFill>
                  <a:schemeClr val="bg1"/>
                </a:solidFill>
              </a:rPr>
              <a:t>3 · REFACTOR</a:t>
            </a:r>
            <a:endParaRPr lang="en-US" sz="1300" dirty="0"/>
          </a:p>
        </p:txBody>
      </p:sp>
      <p:sp>
        <p:nvSpPr>
          <p:cNvPr id="15" name="code-demo-2"/>
          <p:cNvSpPr/>
          <p:nvPr/>
        </p:nvSpPr>
        <p:spPr>
          <a:xfrm>
            <a:off x="6035040" y="1691640"/>
            <a:ext cx="2606040" cy="2057400"/>
          </a:xfrm>
          <a:prstGeom prst="roundRect">
            <a:avLst>
              <a:gd name="adj" fmla="val 3556"/>
            </a:avLst>
          </a:prstGeom>
          <a:solidFill>
            <a:schemeClr val="tx1"/>
          </a:solidFill>
          <a:ln w="12700">
            <a:solidFill>
              <a:schemeClr val="tx1"/>
            </a:solidFill>
            <a:prstDash val="solid"/>
          </a:ln>
        </p:spPr>
      </p:sp>
      <p:sp>
        <p:nvSpPr>
          <p:cNvPr id="16" name="code-demo-2-texte"/>
          <p:cNvSpPr txBox="1"/>
          <p:nvPr/>
        </p:nvSpPr>
        <p:spPr>
          <a:xfrm>
            <a:off x="6172200" y="1801368"/>
            <a:ext cx="2331720" cy="1837944"/>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OPS = {"+": add,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sub,</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mul,</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truediv}</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def calculate(a, op, b):</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return float(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OPS[op](a, b))</a:t>
            </a:r>
            <a:endParaRPr lang="en-US" sz="1100" dirty="0"/>
          </a:p>
        </p:txBody>
      </p:sp>
      <p:sp>
        <p:nvSpPr>
          <p:cNvPr id="17" name="Text 15"/>
          <p:cNvSpPr txBox="1"/>
          <p:nvPr/>
        </p:nvSpPr>
        <p:spPr>
          <a:xfrm>
            <a:off x="6035040" y="3840480"/>
            <a:ext cx="2606040" cy="685800"/>
          </a:xfrm>
          <a:prstGeom prst="rect">
            <a:avLst/>
          </a:prstGeom>
          <a:noFill/>
          <a:ln/>
        </p:spPr>
        <p:txBody>
          <a:bodyPr wrap="square" lIns="0" tIns="0" rIns="0" bIns="0" rtlCol="0" anchor="t"/>
          <a:lstStyle/>
          <a:p>
            <a:pPr indent="0" marL="0">
              <a:buNone/>
            </a:pPr>
            <a:r>
              <a:rPr lang="en-US" sz="1300" i="1" dirty="0">
                <a:solidFill>
                  <a:schemeClr val="tx2"/>
                </a:solidFill>
              </a:rPr>
              <a:t>Les quatre tests verts : on remplace les if par une table.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9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La double boucle</a:t>
            </a:r>
            <a:endParaRPr lang="en-US" sz="3000" dirty="0"/>
          </a:p>
        </p:txBody>
      </p:sp>
      <p:sp>
        <p:nvSpPr>
          <p:cNvPr id="3" name="boucle-externe"/>
          <p:cNvSpPr/>
          <p:nvPr/>
        </p:nvSpPr>
        <p:spPr>
          <a:xfrm>
            <a:off x="457200" y="1188720"/>
            <a:ext cx="4023360" cy="3291840"/>
          </a:xfrm>
          <a:prstGeom prst="ellipse">
            <a:avLst/>
          </a:prstGeom>
          <a:solidFill>
            <a:schemeClr val="bg2"/>
          </a:solidFill>
          <a:ln w="25400">
            <a:solidFill>
              <a:schemeClr val="accent4"/>
            </a:solidFill>
            <a:prstDash val="solid"/>
          </a:ln>
        </p:spPr>
      </p:sp>
      <p:sp>
        <p:nvSpPr>
          <p:cNvPr id="4" name="Text 2"/>
          <p:cNvSpPr txBox="1"/>
          <p:nvPr/>
        </p:nvSpPr>
        <p:spPr>
          <a:xfrm>
            <a:off x="914400" y="1417320"/>
            <a:ext cx="3108960" cy="640080"/>
          </a:xfrm>
          <a:prstGeom prst="rect">
            <a:avLst/>
          </a:prstGeom>
          <a:noFill/>
          <a:ln/>
        </p:spPr>
        <p:txBody>
          <a:bodyPr wrap="square" lIns="0" tIns="0" rIns="0" bIns="0" rtlCol="0" anchor="ctr"/>
          <a:lstStyle/>
          <a:p>
            <a:pPr algn="ctr" indent="0" marL="0">
              <a:buNone/>
            </a:pPr>
            <a:r>
              <a:rPr lang="en-US" sz="1400" b="1" dirty="0">
                <a:solidFill>
                  <a:schemeClr val="accent4"/>
                </a:solidFill>
              </a:rPr>
              <a:t>Boucle externe</a:t>
            </a:r>
            <a:endParaRPr lang="en-US" sz="1400" dirty="0"/>
          </a:p>
          <a:p>
            <a:pPr algn="ctr" indent="0" marL="0">
              <a:buNone/>
            </a:pPr>
            <a:r>
              <a:rPr lang="en-US" sz="1400" dirty="0">
                <a:solidFill>
                  <a:schemeClr val="tx2"/>
                </a:solidFill>
              </a:rPr>
              <a:t>test d'acceptation E2E · des heures</a:t>
            </a:r>
            <a:endParaRPr lang="en-US" sz="1400" dirty="0"/>
          </a:p>
        </p:txBody>
      </p:sp>
      <p:sp>
        <p:nvSpPr>
          <p:cNvPr id="5" name="boucle-interne"/>
          <p:cNvSpPr/>
          <p:nvPr/>
        </p:nvSpPr>
        <p:spPr>
          <a:xfrm>
            <a:off x="1325880" y="2240280"/>
            <a:ext cx="2286000" cy="1828800"/>
          </a:xfrm>
          <a:prstGeom prst="ellipse">
            <a:avLst/>
          </a:prstGeom>
          <a:solidFill>
            <a:schemeClr val="bg1"/>
          </a:solidFill>
          <a:ln w="25400">
            <a:solidFill>
              <a:schemeClr val="accent1"/>
            </a:solidFill>
            <a:prstDash val="solid"/>
          </a:ln>
        </p:spPr>
      </p:sp>
      <p:sp>
        <p:nvSpPr>
          <p:cNvPr id="6" name="Text 4"/>
          <p:cNvSpPr txBox="1"/>
          <p:nvPr/>
        </p:nvSpPr>
        <p:spPr>
          <a:xfrm>
            <a:off x="1463040" y="2606040"/>
            <a:ext cx="2011680" cy="1097280"/>
          </a:xfrm>
          <a:prstGeom prst="rect">
            <a:avLst/>
          </a:prstGeom>
          <a:noFill/>
          <a:ln/>
        </p:spPr>
        <p:txBody>
          <a:bodyPr wrap="square" lIns="0" tIns="0" rIns="0" bIns="0" rtlCol="0" anchor="ctr"/>
          <a:lstStyle/>
          <a:p>
            <a:pPr algn="ctr" indent="0" marL="0">
              <a:buNone/>
            </a:pPr>
            <a:r>
              <a:rPr lang="en-US" sz="1300" b="1" dirty="0">
                <a:solidFill>
                  <a:schemeClr val="accent1"/>
                </a:solidFill>
              </a:rPr>
              <a:t>Boucle interne</a:t>
            </a:r>
            <a:endParaRPr lang="en-US" sz="1300" dirty="0"/>
          </a:p>
          <a:p>
            <a:pPr algn="ctr" indent="0" marL="0">
              <a:buNone/>
            </a:pPr>
            <a:r>
              <a:rPr lang="en-US" sz="1300" dirty="0">
                <a:solidFill>
                  <a:schemeClr val="tx2"/>
                </a:solidFill>
              </a:rPr>
              <a:t>rouge → vert → refactor</a:t>
            </a:r>
            <a:endParaRPr lang="en-US" sz="1300" dirty="0"/>
          </a:p>
          <a:p>
            <a:pPr algn="ctr" indent="0" marL="0">
              <a:buNone/>
            </a:pPr>
            <a:r>
              <a:rPr lang="en-US" sz="1300" dirty="0">
                <a:solidFill>
                  <a:schemeClr val="tx2"/>
                </a:solidFill>
              </a:rPr>
              <a:t>des minutes</a:t>
            </a:r>
            <a:endParaRPr lang="en-US" sz="1300" dirty="0"/>
          </a:p>
        </p:txBody>
      </p:sp>
      <p:sp>
        <p:nvSpPr>
          <p:cNvPr id="7" name="Text 5"/>
          <p:cNvSpPr txBox="1"/>
          <p:nvPr/>
        </p:nvSpPr>
        <p:spPr>
          <a:xfrm>
            <a:off x="4846320" y="1280160"/>
            <a:ext cx="3840480" cy="310896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500" dirty="0">
                <a:solidFill>
                  <a:schemeClr val="tx1"/>
                </a:solidFill>
              </a:rPr>
              <a:t>Écrire le test d'acceptation : il échoue.</a:t>
            </a:r>
            <a:endParaRPr lang="en-US" sz="1500" dirty="0"/>
          </a:p>
          <a:p>
            <a:pPr marL="342900" indent="-342900">
              <a:spcAft>
                <a:spcPts val="1000"/>
              </a:spcAft>
              <a:buSzPct val="100000"/>
              <a:buFont typeface="+mj-lt"/>
              <a:buAutoNum type="arabicPeriod" startAt="1"/>
            </a:pPr>
            <a:r>
              <a:rPr lang="en-US" sz="1500" dirty="0">
                <a:solidFill>
                  <a:schemeClr val="tx1"/>
                </a:solidFill>
              </a:rPr>
              <a:t>Choisir la brique qui manque pour avancer.</a:t>
            </a:r>
            <a:endParaRPr lang="en-US" sz="1500" dirty="0"/>
          </a:p>
          <a:p>
            <a:pPr marL="342900" indent="-342900">
              <a:spcAft>
                <a:spcPts val="1000"/>
              </a:spcAft>
              <a:buSzPct val="100000"/>
              <a:buFont typeface="+mj-lt"/>
              <a:buAutoNum type="arabicPeriod" startAt="1"/>
            </a:pPr>
            <a:r>
              <a:rPr lang="en-US" sz="1500" dirty="0">
                <a:solidFill>
                  <a:schemeClr val="tx1"/>
                </a:solidFill>
              </a:rPr>
              <a:t>La construire en petits cycles unitaires ou fonctionnels.</a:t>
            </a:r>
            <a:endParaRPr lang="en-US" sz="1500" dirty="0"/>
          </a:p>
          <a:p>
            <a:pPr marL="342900" indent="-342900">
              <a:spcAft>
                <a:spcPts val="1000"/>
              </a:spcAft>
              <a:buSzPct val="100000"/>
              <a:buFont typeface="+mj-lt"/>
              <a:buAutoNum type="arabicPeriod" startAt="1"/>
            </a:pPr>
            <a:r>
              <a:rPr lang="en-US" sz="1500" dirty="0">
                <a:solidFill>
                  <a:schemeClr val="tx1"/>
                </a:solidFill>
              </a:rPr>
              <a:t>Relancer le test d'acceptation. Toujours rouge ? Retour à l'étape 2.</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9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Tester du code qui dépend d'un LLM</a:t>
            </a:r>
            <a:endParaRPr lang="en-US" sz="3000" dirty="0"/>
          </a:p>
        </p:txBody>
      </p:sp>
      <p:sp>
        <p:nvSpPr>
          <p:cNvPr id="3" name="regle-llm"/>
          <p:cNvSpPr/>
          <p:nvPr/>
        </p:nvSpPr>
        <p:spPr>
          <a:xfrm>
            <a:off x="457200" y="1234440"/>
            <a:ext cx="8229600" cy="868680"/>
          </a:xfrm>
          <a:prstGeom prst="roundRect">
            <a:avLst>
              <a:gd name="adj" fmla="val 10526"/>
            </a:avLst>
          </a:prstGeom>
          <a:solidFill>
            <a:schemeClr val="accent2"/>
          </a:solidFill>
          <a:ln w="12700">
            <a:solidFill>
              <a:schemeClr val="accent2"/>
            </a:solidFill>
            <a:prstDash val="solid"/>
          </a:ln>
        </p:spPr>
      </p:sp>
      <p:sp>
        <p:nvSpPr>
          <p:cNvPr id="4" name="Text 2"/>
          <p:cNvSpPr txBox="1"/>
          <p:nvPr/>
        </p:nvSpPr>
        <p:spPr>
          <a:xfrm>
            <a:off x="685800" y="1234440"/>
            <a:ext cx="7772400" cy="868680"/>
          </a:xfrm>
          <a:prstGeom prst="rect">
            <a:avLst/>
          </a:prstGeom>
          <a:noFill/>
          <a:ln/>
        </p:spPr>
        <p:txBody>
          <a:bodyPr wrap="square" lIns="0" tIns="0" rIns="0" bIns="0" rtlCol="0" anchor="ctr"/>
          <a:lstStyle/>
          <a:p>
            <a:pPr indent="0" marL="0">
              <a:buNone/>
            </a:pPr>
            <a:r>
              <a:rPr lang="en-US" sz="2200" b="1" dirty="0">
                <a:solidFill>
                  <a:schemeClr val="bg1"/>
                </a:solidFill>
              </a:rPr>
              <a:t>Ne jamais vérifier le texte généré. Vérifier les effets.</a:t>
            </a:r>
            <a:endParaRPr lang="en-US" sz="2200" dirty="0"/>
          </a:p>
        </p:txBody>
      </p:sp>
      <p:sp>
        <p:nvSpPr>
          <p:cNvPr id="5" name="Text 3"/>
          <p:cNvSpPr txBox="1"/>
          <p:nvPr/>
        </p:nvSpPr>
        <p:spPr>
          <a:xfrm>
            <a:off x="457200" y="2423160"/>
            <a:ext cx="2560320" cy="201168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Isoler</a:t>
            </a:r>
            <a:endParaRPr lang="en-US" sz="1400" dirty="0"/>
          </a:p>
          <a:p>
            <a:pPr indent="0" marL="0">
              <a:spcAft>
                <a:spcPts val="600"/>
              </a:spcAft>
              <a:buNone/>
            </a:pPr>
            <a:r>
              <a:rPr lang="en-US" sz="1400" dirty="0">
                <a:solidFill>
                  <a:schemeClr val="tx2"/>
                </a:solidFill>
              </a:rPr>
              <a:t>Le LLM passe par une interface (LLMClient). En test, un faux LLM rejoue des réponses scriptées.</a:t>
            </a:r>
            <a:endParaRPr lang="en-US" sz="1400" dirty="0"/>
          </a:p>
        </p:txBody>
      </p:sp>
      <p:sp>
        <p:nvSpPr>
          <p:cNvPr id="6" name="Text 4"/>
          <p:cNvSpPr txBox="1"/>
          <p:nvPr/>
        </p:nvSpPr>
        <p:spPr>
          <a:xfrm>
            <a:off x="3273552" y="2423160"/>
            <a:ext cx="2560320" cy="201168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Simuler le réseau</a:t>
            </a:r>
            <a:endParaRPr lang="en-US" sz="1400" dirty="0"/>
          </a:p>
          <a:p>
            <a:pPr indent="0" marL="0">
              <a:spcAft>
                <a:spcPts val="600"/>
              </a:spcAft>
              <a:buNone/>
            </a:pPr>
            <a:r>
              <a:rPr lang="en-US" sz="1400" dirty="0">
                <a:solidFill>
                  <a:schemeClr val="tx2"/>
                </a:solidFill>
              </a:rPr>
              <a:t>Pour l'E2E déterministe, un faux serveur HTTP imite l'API Groq.</a:t>
            </a:r>
            <a:endParaRPr lang="en-US" sz="1400" dirty="0"/>
          </a:p>
        </p:txBody>
      </p:sp>
      <p:sp>
        <p:nvSpPr>
          <p:cNvPr id="7" name="Text 5"/>
          <p:cNvSpPr txBox="1"/>
          <p:nvPr/>
        </p:nvSpPr>
        <p:spPr>
          <a:xfrm>
            <a:off x="6089904" y="2423160"/>
            <a:ext cx="2560320" cy="201168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Limiter le réel</a:t>
            </a:r>
            <a:endParaRPr lang="en-US" sz="1400" dirty="0"/>
          </a:p>
          <a:p>
            <a:pPr indent="0" marL="0">
              <a:spcAft>
                <a:spcPts val="600"/>
              </a:spcAft>
              <a:buNone/>
            </a:pPr>
            <a:r>
              <a:rPr lang="en-US" sz="1400" dirty="0">
                <a:solidFill>
                  <a:schemeClr val="tx2"/>
                </a:solidFill>
              </a:rPr>
              <a:t>Un seul test contre le vrai Groq, marqué, sauté sans clé, lancé à la demande.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9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Les règles du jeu</a:t>
            </a:r>
            <a:endParaRPr lang="en-US" sz="3000" dirty="0"/>
          </a:p>
        </p:txBody>
      </p:sp>
      <p:sp>
        <p:nvSpPr>
          <p:cNvPr id="3" name="Shape 1"/>
          <p:cNvSpPr/>
          <p:nvPr/>
        </p:nvSpPr>
        <p:spPr>
          <a:xfrm>
            <a:off x="457200" y="1234440"/>
            <a:ext cx="502920" cy="502920"/>
          </a:xfrm>
          <a:prstGeom prst="ellipse">
            <a:avLst/>
          </a:prstGeom>
          <a:solidFill>
            <a:schemeClr val="accent4"/>
          </a:solidFill>
          <a:ln w="12700">
            <a:solidFill>
              <a:schemeClr val="accent4"/>
            </a:solidFill>
            <a:prstDash val="solid"/>
          </a:ln>
        </p:spPr>
      </p:sp>
      <p:sp>
        <p:nvSpPr>
          <p:cNvPr id="4" name="Text 2"/>
          <p:cNvSpPr txBox="1"/>
          <p:nvPr/>
        </p:nvSpPr>
        <p:spPr>
          <a:xfrm>
            <a:off x="457200" y="12344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188720" y="1234440"/>
            <a:ext cx="4023360" cy="548640"/>
          </a:xfrm>
          <a:prstGeom prst="rect">
            <a:avLst/>
          </a:prstGeom>
          <a:noFill/>
          <a:ln/>
        </p:spPr>
        <p:txBody>
          <a:bodyPr wrap="square" lIns="0" tIns="0" rIns="0" bIns="0" rtlCol="0" anchor="ctr"/>
          <a:lstStyle/>
          <a:p>
            <a:pPr indent="0" marL="0">
              <a:buNone/>
            </a:pPr>
            <a:r>
              <a:rPr lang="en-US" sz="1500" dirty="0">
                <a:solidFill>
                  <a:schemeClr val="tx1"/>
                </a:solidFill>
              </a:rPr>
              <a:t>Aucune ligne de code de production sans un test rouge qui la justifie.</a:t>
            </a:r>
            <a:endParaRPr lang="en-US" sz="1500" dirty="0"/>
          </a:p>
        </p:txBody>
      </p:sp>
      <p:sp>
        <p:nvSpPr>
          <p:cNvPr id="6" name="Shape 4"/>
          <p:cNvSpPr/>
          <p:nvPr/>
        </p:nvSpPr>
        <p:spPr>
          <a:xfrm>
            <a:off x="457200" y="2011680"/>
            <a:ext cx="502920" cy="502920"/>
          </a:xfrm>
          <a:prstGeom prst="ellipse">
            <a:avLst/>
          </a:prstGeom>
          <a:solidFill>
            <a:schemeClr val="accent4"/>
          </a:solidFill>
          <a:ln w="12700">
            <a:solidFill>
              <a:schemeClr val="accent4"/>
            </a:solidFill>
            <a:prstDash val="solid"/>
          </a:ln>
        </p:spPr>
      </p:sp>
      <p:sp>
        <p:nvSpPr>
          <p:cNvPr id="7" name="Text 5"/>
          <p:cNvSpPr txBox="1"/>
          <p:nvPr/>
        </p:nvSpPr>
        <p:spPr>
          <a:xfrm>
            <a:off x="457200" y="20116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8" name="Text 6"/>
          <p:cNvSpPr txBox="1"/>
          <p:nvPr/>
        </p:nvSpPr>
        <p:spPr>
          <a:xfrm>
            <a:off x="1188720" y="2011680"/>
            <a:ext cx="4023360" cy="548640"/>
          </a:xfrm>
          <a:prstGeom prst="rect">
            <a:avLst/>
          </a:prstGeom>
          <a:noFill/>
          <a:ln/>
        </p:spPr>
        <p:txBody>
          <a:bodyPr wrap="square" lIns="0" tIns="0" rIns="0" bIns="0" rtlCol="0" anchor="ctr"/>
          <a:lstStyle/>
          <a:p>
            <a:pPr indent="0" marL="0">
              <a:buNone/>
            </a:pPr>
            <a:r>
              <a:rPr lang="en-US" sz="1500" dirty="0">
                <a:solidFill>
                  <a:schemeClr val="tx1"/>
                </a:solidFill>
              </a:rPr>
              <a:t>Les contrats de l'énoncé sont normatifs : signatures, noms d'outils, messages d'erreur.</a:t>
            </a:r>
            <a:endParaRPr lang="en-US" sz="1500" dirty="0"/>
          </a:p>
        </p:txBody>
      </p:sp>
      <p:sp>
        <p:nvSpPr>
          <p:cNvPr id="9" name="Shape 7"/>
          <p:cNvSpPr/>
          <p:nvPr/>
        </p:nvSpPr>
        <p:spPr>
          <a:xfrm>
            <a:off x="457200" y="2788920"/>
            <a:ext cx="502920" cy="502920"/>
          </a:xfrm>
          <a:prstGeom prst="ellipse">
            <a:avLst/>
          </a:prstGeom>
          <a:solidFill>
            <a:schemeClr val="accent4"/>
          </a:solidFill>
          <a:ln w="12700">
            <a:solidFill>
              <a:schemeClr val="accent4"/>
            </a:solidFill>
            <a:prstDash val="solid"/>
          </a:ln>
        </p:spPr>
      </p:sp>
      <p:sp>
        <p:nvSpPr>
          <p:cNvPr id="10" name="Text 8"/>
          <p:cNvSpPr txBox="1"/>
          <p:nvPr/>
        </p:nvSpPr>
        <p:spPr>
          <a:xfrm>
            <a:off x="457200" y="2788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1" name="Text 9"/>
          <p:cNvSpPr txBox="1"/>
          <p:nvPr/>
        </p:nvSpPr>
        <p:spPr>
          <a:xfrm>
            <a:off x="1188720" y="2788920"/>
            <a:ext cx="4023360" cy="548640"/>
          </a:xfrm>
          <a:prstGeom prst="rect">
            <a:avLst/>
          </a:prstGeom>
          <a:noFill/>
          <a:ln/>
        </p:spPr>
        <p:txBody>
          <a:bodyPr wrap="square" lIns="0" tIns="0" rIns="0" bIns="0" rtlCol="0" anchor="ctr"/>
          <a:lstStyle/>
          <a:p>
            <a:pPr indent="0" marL="0">
              <a:buNone/>
            </a:pPr>
            <a:r>
              <a:rPr lang="en-US" sz="1500" dirty="0">
                <a:solidFill>
                  <a:schemeClr val="tx1"/>
                </a:solidFill>
              </a:rPr>
              <a:t>Chaque test cite l'identifiant de son exigence : T1, P3, A4…</a:t>
            </a:r>
            <a:endParaRPr lang="en-US" sz="1500" dirty="0"/>
          </a:p>
        </p:txBody>
      </p:sp>
      <p:sp>
        <p:nvSpPr>
          <p:cNvPr id="12" name="Shape 10"/>
          <p:cNvSpPr/>
          <p:nvPr/>
        </p:nvSpPr>
        <p:spPr>
          <a:xfrm>
            <a:off x="457200" y="3566160"/>
            <a:ext cx="502920" cy="502920"/>
          </a:xfrm>
          <a:prstGeom prst="ellipse">
            <a:avLst/>
          </a:prstGeom>
          <a:solidFill>
            <a:schemeClr val="accent4"/>
          </a:solidFill>
          <a:ln w="12700">
            <a:solidFill>
              <a:schemeClr val="accent4"/>
            </a:solidFill>
            <a:prstDash val="solid"/>
          </a:ln>
        </p:spPr>
      </p:sp>
      <p:sp>
        <p:nvSpPr>
          <p:cNvPr id="13" name="Text 11"/>
          <p:cNvSpPr txBox="1"/>
          <p:nvPr/>
        </p:nvSpPr>
        <p:spPr>
          <a:xfrm>
            <a:off x="457200" y="35661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4" name="Text 12"/>
          <p:cNvSpPr txBox="1"/>
          <p:nvPr/>
        </p:nvSpPr>
        <p:spPr>
          <a:xfrm>
            <a:off x="1188720" y="3566160"/>
            <a:ext cx="4023360" cy="548640"/>
          </a:xfrm>
          <a:prstGeom prst="rect">
            <a:avLst/>
          </a:prstGeom>
          <a:noFill/>
          <a:ln/>
        </p:spPr>
        <p:txBody>
          <a:bodyPr wrap="square" lIns="0" tIns="0" rIns="0" bIns="0" rtlCol="0" anchor="ctr"/>
          <a:lstStyle/>
          <a:p>
            <a:pPr indent="0" marL="0">
              <a:buNone/>
            </a:pPr>
            <a:r>
              <a:rPr lang="en-US" sz="1500" dirty="0">
                <a:solidFill>
                  <a:schemeClr val="tx1"/>
                </a:solidFill>
              </a:rPr>
              <a:t>Un commit par étape du cycle : red:, green:, refactor:.</a:t>
            </a:r>
            <a:endParaRPr lang="en-US" sz="1500" dirty="0"/>
          </a:p>
        </p:txBody>
      </p:sp>
      <p:sp>
        <p:nvSpPr>
          <p:cNvPr id="15" name="evaluation"/>
          <p:cNvSpPr/>
          <p:nvPr/>
        </p:nvSpPr>
        <p:spPr>
          <a:xfrm>
            <a:off x="5577840" y="1234440"/>
            <a:ext cx="3108960" cy="3063240"/>
          </a:xfrm>
          <a:prstGeom prst="roundRect">
            <a:avLst>
              <a:gd name="adj" fmla="val 2985"/>
            </a:avLst>
          </a:prstGeom>
          <a:solidFill>
            <a:schemeClr val="bg2"/>
          </a:solidFill>
          <a:ln w="12700">
            <a:solidFill>
              <a:schemeClr val="bg2"/>
            </a:solidFill>
            <a:prstDash val="solid"/>
          </a:ln>
        </p:spPr>
      </p:sp>
      <p:sp>
        <p:nvSpPr>
          <p:cNvPr id="16" name="Text 14"/>
          <p:cNvSpPr txBox="1"/>
          <p:nvPr/>
        </p:nvSpPr>
        <p:spPr>
          <a:xfrm>
            <a:off x="5760720" y="1371600"/>
            <a:ext cx="2743200" cy="365760"/>
          </a:xfrm>
          <a:prstGeom prst="rect">
            <a:avLst/>
          </a:prstGeom>
          <a:noFill/>
          <a:ln/>
        </p:spPr>
        <p:txBody>
          <a:bodyPr wrap="square" lIns="0" tIns="0" rIns="0" bIns="0" rtlCol="0" anchor="ctr"/>
          <a:lstStyle/>
          <a:p>
            <a:pPr indent="0" marL="0">
              <a:buNone/>
            </a:pPr>
            <a:r>
              <a:rPr lang="en-US" sz="1600" b="1" dirty="0">
                <a:solidFill>
                  <a:schemeClr val="accent4"/>
                </a:solidFill>
              </a:rPr>
              <a:t>Évaluation sur 20</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760720" y="1828800"/>
          <a:ext cx="2743200" cy="914400"/>
        </p:xfrm>
        <a:graphic>
          <a:graphicData uri="http://schemas.openxmlformats.org/drawingml/2006/table">
            <a:tbl>
              <a:tblPr/>
              <a:tblGrid>
                <a:gridCol w="2194560"/>
                <a:gridCol w="548640"/>
              </a:tblGrid>
              <a:tr h="384048">
                <a:tc>
                  <a:txBody>
                    <a:bodyPr/>
                    <a:lstStyle/>
                    <a:p>
                      <a:pPr indent="0" marL="0">
                        <a:buNone/>
                      </a:pPr>
                      <a:r>
                        <a:rPr lang="en-US" sz="1400" dirty="0">
                          <a:solidFill>
                            <a:schemeClr val="tx1"/>
                          </a:solidFill>
                        </a:rPr>
                        <a:t>Démarche TDD</a:t>
                      </a:r>
                      <a:endParaRPr lang="en-US" sz="14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b="1" dirty="0">
                          <a:solidFill>
                            <a:schemeClr val="tx1"/>
                          </a:solidFill>
                        </a:rPr>
                        <a:t>5</a:t>
                      </a:r>
                      <a:endParaRPr lang="en-US" sz="1400" dirty="0"/>
                    </a:p>
                  </a:txBody>
                  <a:tcPr marL="27432" marR="27432" marT="27432" marB="27432">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dirty="0">
                          <a:solidFill>
                            <a:schemeClr val="tx1"/>
                          </a:solidFill>
                        </a:rPr>
                        <a:t>Conformité aux contrats</a:t>
                      </a:r>
                      <a:endParaRPr lang="en-US" sz="14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b="1" dirty="0">
                          <a:solidFill>
                            <a:schemeClr val="tx1"/>
                          </a:solidFill>
                        </a:rPr>
                        <a:t>5</a:t>
                      </a:r>
                      <a:endParaRPr lang="en-US" sz="1400" dirty="0"/>
                    </a:p>
                  </a:txBody>
                  <a:tcPr marL="27432" marR="27432" marT="27432" marB="27432">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dirty="0">
                          <a:solidFill>
                            <a:schemeClr val="tx1"/>
                          </a:solidFill>
                        </a:rPr>
                        <a:t>Qualité des tests</a:t>
                      </a:r>
                      <a:endParaRPr lang="en-US" sz="14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b="1" dirty="0">
                          <a:solidFill>
                            <a:schemeClr val="tx1"/>
                          </a:solidFill>
                        </a:rPr>
                        <a:t>5</a:t>
                      </a:r>
                      <a:endParaRPr lang="en-US" sz="1400" dirty="0"/>
                    </a:p>
                  </a:txBody>
                  <a:tcPr marL="27432" marR="27432" marT="27432" marB="27432">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dirty="0">
                          <a:solidFill>
                            <a:schemeClr val="tx1"/>
                          </a:solidFill>
                        </a:rPr>
                        <a:t>Choix des niveaux</a:t>
                      </a:r>
                      <a:endParaRPr lang="en-US" sz="14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b="1" dirty="0">
                          <a:solidFill>
                            <a:schemeClr val="tx1"/>
                          </a:solidFill>
                        </a:rPr>
                        <a:t>3</a:t>
                      </a:r>
                      <a:endParaRPr lang="en-US" sz="1400" dirty="0"/>
                    </a:p>
                  </a:txBody>
                  <a:tcPr marL="27432" marR="27432" marT="27432" marB="27432">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dirty="0">
                          <a:solidFill>
                            <a:schemeClr val="tx1"/>
                          </a:solidFill>
                        </a:rPr>
                        <a:t>Réflexion</a:t>
                      </a:r>
                      <a:endParaRPr lang="en-US" sz="14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b="1" dirty="0">
                          <a:solidFill>
                            <a:schemeClr val="tx1"/>
                          </a:solidFill>
                        </a:rPr>
                        <a:t>2</a:t>
                      </a:r>
                      <a:endParaRPr lang="en-US" sz="1400" dirty="0"/>
                    </a:p>
                  </a:txBody>
                  <a:tcPr marL="27432" marR="27432" marT="27432" marB="27432">
                    <a:lnL w="0" cap="flat" cmpd="sng" algn="ctr">
                      <a:noFill/>
                    </a:lnL>
                    <a:lnR w="0" cap="flat" cmpd="sng" algn="ctr">
                      <a:noFill/>
                    </a:lnR>
                    <a:lnT w="0" cap="flat" cmpd="sng" algn="ctr">
                      <a:noFill/>
                    </a:lnT>
                    <a:lnB w="0" cap="flat" cmpd="sng" algn="ctr">
                      <a:noFill/>
                    </a:lnB>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9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rtlCol="0" anchor="b"/>
          <a:lstStyle/>
          <a:p>
            <a:pPr algn="l" indent="0" marL="0">
              <a:buNone/>
            </a:pPr>
            <a:r>
              <a:rPr lang="en-US" sz="4000" b="1" dirty="0">
                <a:solidFill>
                  <a:schemeClr val="bg1"/>
                </a:solidFill>
              </a:rPr>
              <a:t>À vous : écrivez le premier test rouge</a:t>
            </a:r>
            <a:endParaRPr lang="en-US" sz="4000" dirty="0"/>
          </a:p>
        </p:txBody>
      </p:sp>
      <p:sp>
        <p:nvSpPr>
          <p:cNvPr id="3" name="Text 0"/>
          <p:cNvSpPr/>
          <p:nvPr>
            <p:ph idx="101" type="body" hasCustomPrompt="1"/>
          </p:nvPr>
        </p:nvSpPr>
        <p:spPr>
          <a:xfrm>
            <a:off x="548640" y="2697480"/>
            <a:ext cx="8046720" cy="914400"/>
          </a:xfrm>
          <a:prstGeom prst="rect">
            <a:avLst/>
          </a:prstGeom>
          <a:noFill/>
          <a:ln/>
        </p:spPr>
        <p:txBody>
          <a:bodyPr wrap="square" rtlCol="0" anchor="t"/>
          <a:lstStyle/>
          <a:p>
            <a:pPr algn="l" indent="0" marL="0">
              <a:buNone/>
            </a:pPr>
            <a:r>
              <a:rPr lang="en-US" sz="1800" dirty="0">
                <a:solidFill>
                  <a:schemeClr val="accent6"/>
                </a:solidFill>
              </a:rPr>
              <a:t>Étape 0 de l'énoncé : les tests d'acceptation E1 et E2</a:t>
            </a:r>
            <a:endParaRPr lang="en-US" sz="1800" dirty="0"/>
          </a:p>
        </p:txBody>
      </p:sp>
      <p:sp>
        <p:nvSpPr>
          <p:cNvPr id="4" name="code-depart"/>
          <p:cNvSpPr/>
          <p:nvPr/>
        </p:nvSpPr>
        <p:spPr>
          <a:xfrm>
            <a:off x="548640" y="3703320"/>
            <a:ext cx="5303520" cy="868680"/>
          </a:xfrm>
          <a:prstGeom prst="roundRect">
            <a:avLst>
              <a:gd name="adj" fmla="val 8421"/>
            </a:avLst>
          </a:prstGeom>
          <a:solidFill>
            <a:schemeClr val="tx2"/>
          </a:solidFill>
          <a:ln w="12700">
            <a:solidFill>
              <a:schemeClr val="tx2"/>
            </a:solidFill>
            <a:prstDash val="solid"/>
          </a:ln>
        </p:spPr>
      </p:sp>
      <p:sp>
        <p:nvSpPr>
          <p:cNvPr id="5" name="code-depart-texte"/>
          <p:cNvSpPr txBox="1"/>
          <p:nvPr/>
        </p:nvSpPr>
        <p:spPr>
          <a:xfrm>
            <a:off x="685800" y="3813048"/>
            <a:ext cx="5029200" cy="64922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 uv sync</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uv run pytest -m e2e   # 2 échecs attendus</a:t>
            </a:r>
            <a:endParaRPr lang="en-US" sz="1200" dirty="0"/>
          </a:p>
        </p:txBody>
      </p:sp>
    </p:spTree>
  </p:cSld>
  <p:clrMapOvr>
    <a:masterClrMapping/>
  </p:clrMapOvr>
</p:sld>
</file>

<file path=ppt/theme/theme1.xml><?xml version="1.0" encoding="utf-8"?>
<a:theme xmlns:a="http://schemas.openxmlformats.org/drawingml/2006/main" name="Mini-JARVIS TDD">
  <a:themeElements>
    <a:clrScheme name="Mini-JARVIS TDD">
      <a:dk1>
        <a:srgbClr val="1F2A30"/>
      </a:dk1>
      <a:lt1>
        <a:srgbClr val="FFFFFF"/>
      </a:lt1>
      <a:dk2>
        <a:srgbClr val="3A4A52"/>
      </a:dk2>
      <a:lt2>
        <a:srgbClr val="EEF2F3"/>
      </a:lt2>
      <a:accent1>
        <a:srgbClr val="2E9E5B"/>
      </a:accent1>
      <a:accent2>
        <a:srgbClr val="D64545"/>
      </a:accent2>
      <a:accent3>
        <a:srgbClr val="D99A1E"/>
      </a:accent3>
      <a:accent4>
        <a:srgbClr val="2F6F8F"/>
      </a:accent4>
      <a:accent5>
        <a:srgbClr val="4F8FA8"/>
      </a:accent5>
      <a:accent6>
        <a:srgbClr val="9FD3B4"/>
      </a:accent6>
      <a:hlink>
        <a:srgbClr val="2F6F8F"/>
      </a:hlink>
      <a:folHlink>
        <a:srgbClr val="7A8A92"/>
      </a:folHlink>
    </a:clrScheme>
    <a:fontScheme name="Mini-JARVIS TD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Tester Mini-JARVIS en TDD</dc:title>
  <dc:subject>PptxGenJS Presentation</dc:subject>
  <dc:creator>Michel Cadennes</dc:creator>
  <cp:lastModifiedBy>Michel Cadennes</cp:lastModifiedBy>
  <cp:revision>1</cp:revision>
  <dcterms:created xsi:type="dcterms:W3CDTF">2026-10-22T01:01:00Z</dcterms:created>
  <dcterms:modified xsi:type="dcterms:W3CDTF">2026-10-22T01:01:00Z</dcterms:modified>
</cp:coreProperties>
</file>